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3A5F"/>
                </a:solidFill>
                <a:latin typeface="Noto Sans CJK TC"/>
              </a:rPr>
              <a:t>各類參與率：114 vs 115 學年（%）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 學年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七年級</c:v>
                </c:pt>
                <c:pt idx="1">
                  <c:v>八年級</c:v>
                </c:pt>
                <c:pt idx="2">
                  <c:v>九年級</c:v>
                </c:pt>
                <c:pt idx="3">
                  <c:v>教職員</c:v>
                </c:pt>
                <c:pt idx="4">
                  <c:v>家長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91.5</c:v>
                </c:pt>
                <c:pt idx="1">
                  <c:v>90.8</c:v>
                </c:pt>
                <c:pt idx="2">
                  <c:v>92.3</c:v>
                </c:pt>
                <c:pt idx="3">
                  <c:v>78.0</c:v>
                </c:pt>
                <c:pt idx="4">
                  <c:v>45.0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115 學年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七年級</c:v>
                </c:pt>
                <c:pt idx="1">
                  <c:v>八年級</c:v>
                </c:pt>
                <c:pt idx="2">
                  <c:v>九年級</c:v>
                </c:pt>
                <c:pt idx="3">
                  <c:v>教職員</c:v>
                </c:pt>
                <c:pt idx="4">
                  <c:v>家長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99.0</c:v>
                </c:pt>
                <c:pt idx="1">
                  <c:v>99.5</c:v>
                </c:pt>
                <c:pt idx="2">
                  <c:v>98.9</c:v>
                </c:pt>
                <c:pt idx="3">
                  <c:v>88.0</c:v>
                </c:pt>
                <c:pt idx="4">
                  <c:v>73.0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400" b="1">
                <a:solidFill>
                  <a:srgbClr val="1F3A5F"/>
                </a:solidFill>
                <a:latin typeface="Noto Sans CJK TC"/>
              </a:rPr>
              <a:t>18 項競賽獎牌分佈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獎牌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金牌（破校紀）</c:v>
                </c:pt>
                <c:pt idx="1">
                  <c:v>金牌（未破紀錄）</c:v>
                </c:pt>
                <c:pt idx="2">
                  <c:v>銀牌</c:v>
                </c:pt>
                <c:pt idx="3">
                  <c:v>銅牌</c:v>
                </c:pt>
                <c:pt idx="4">
                  <c:v>未獲獎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9</c:v>
                </c:pt>
                <c:pt idx="3">
                  <c:v>12</c:v>
                </c:pt>
                <c:pt idx="4">
                  <c:v>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開場：感謝首長撥冗。報告時間預估 8 分鐘。內容涵蓋參與情形、競賽成績、家長回饋及明年精進方案，請首長裁示。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口說：這三張卡是給首長 30 秒看完整份報告的金鑰。先報『人、成績、滿意度』三個數字，再提請示事項。若首長想看細節，再翻下一頁。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口說：本頁看『參與面』。學生到場已經接近天花板，未來成長空間在『家長』與『教職員』。家長 +28 pp 的關鍵是首次開放親子競賽。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口說：本頁給首長看『成績結構』。亮點是徑賽，缺口是田賽（投擲類）與團體賽。這呼應下頁『訓練資源配置』的方案。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口說：本頁回答『怎麼做』。三項作為都有人事或制度變動，需要首長核定。預算 8 萬來自家長會贊助。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口說：首長常問錢從哪來。100% 外部贊助，校內零負擔。產出側：校紀、家長滿意、媒體曝光三項可量化。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口說：首長會問風險。誠實列出 3 項並給配套。教練到位是最大風險，已提前 4 個月作業。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口說：報告結束。三項請示請首長逐一裁示。如首長有疑義，回第 5 頁方案或第 7 頁風險。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371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Noto Sans CJK TC"/>
              </a:rPr>
              <a:t>115 學年度校慶運動會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Noto Sans CJK TC"/>
              </a:rPr>
              <a:t>成果報告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CF0"/>
                </a:solidFill>
                <a:latin typeface="Noto Sans CJK TC"/>
              </a:rPr>
              <a:t>報告人：學務處 體育組長    報告日期：115 年 11 月 12 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A33D"/>
                </a:solidFill>
                <a:latin typeface="Noto Sans CJK TC"/>
              </a:rPr>
              <a:t>呈：主任秘書、校長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9144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Noto Sans CJK TC"/>
              </a:rP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Noto Sans CJK TC"/>
              </a:rPr>
              <a:t>OO 國民中學 · 校慶運動會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Noto Sans CJK TC"/>
              </a:rPr>
              <a:t>結論：今年運動會參與率創新高，建議明年擴大為半日活動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TC"/>
              </a:rPr>
              <a:t>3 項重點結論 + 1 項請示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3474720" cy="292608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3474720" cy="16459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889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F3A5F"/>
                </a:solidFill>
                <a:latin typeface="Noto Sans CJK TC"/>
              </a:rPr>
              <a:t>1,247 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794760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Noto Sans CJK TC"/>
              </a:rPr>
              <a:t>全校參與率 96.2%
較去年 +4.7 個百分點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560320"/>
            <a:ext cx="3474720" cy="292608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560320"/>
            <a:ext cx="3474720" cy="16459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7889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F3A5F"/>
                </a:solidFill>
                <a:latin typeface="Noto Sans CJK TC"/>
              </a:rPr>
              <a:t>18 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94760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Noto Sans CJK TC"/>
              </a:rPr>
              <a:t>破校紀 / 持平紀錄
金牌 6 面、銀牌 9 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9" y="2560320"/>
            <a:ext cx="3474720" cy="292608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2560320"/>
            <a:ext cx="3474720" cy="16459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9" y="278892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F3A5F"/>
                </a:solidFill>
                <a:latin typeface="Noto Sans CJK TC"/>
              </a:rPr>
              <a:t>4.6 /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9" y="3794760"/>
            <a:ext cx="3108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Noto Sans CJK TC"/>
              </a:rPr>
              <a:t>家長滿意度
較去年 +0.3 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60720"/>
            <a:ext cx="10908792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978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TC"/>
              </a:rPr>
              <a:t>▶ 請示：115-2 學期起將運動會擴大為半日（8:00-12:00），並增列家長親子競賽 2 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9144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Noto Sans CJK TC"/>
              </a:rP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Noto Sans CJK TC"/>
              </a:rPr>
              <a:t>OO 國民中學 · 校慶運動會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Noto Sans CJK TC"/>
              </a:rPr>
              <a:t>現況：全校 1,247 人參與，學生到場率 99.1%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TC"/>
              </a:rPr>
              <a:t>出席 / 競賽 / 觀賽 三類分流統計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256032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0" y="2606040"/>
            <a:ext cx="3840480" cy="109728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6974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Noto Sans CJK TC"/>
              </a:rPr>
              <a:t>家長參與 +28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0632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TC"/>
              </a:rPr>
              <a:t>首次開放家長報名
親子競賽效果顯著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886200"/>
            <a:ext cx="3840480" cy="2331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3977639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CJK TC"/>
              </a:rPr>
              <a:t>觀察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34340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TC"/>
              </a:rPr>
              <a:t>• 學生到場率近滿（99.1%）
• 家長參與從 45% 躍升至 73%
• 教職員動員率 +10 pp
• 三類分流設計有效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TC"/>
              </a:rPr>
              <a:t>資料來源：學務處體育組簽到表，統計至 115/11/12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9144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Noto Sans CJK TC"/>
              </a:rP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Noto Sans CJK TC"/>
              </a:rPr>
              <a:t>OO 國民中學 · 校慶運動會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Noto Sans CJK TC"/>
              </a:rPr>
              <a:t>問題：徑賽表現亮眼，但田賽項目連兩年未破紀錄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TC"/>
              </a:rPr>
              <a:t>18 項競賽成績分佈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256032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949440" y="2606040"/>
            <a:ext cx="4663440" cy="36576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6974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Noto Sans CJK TC"/>
              </a:rPr>
              <a:t>亮點與缺口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108960"/>
            <a:ext cx="44805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Noto Sans CJK TC"/>
              </a:rPr>
              <a:t>✓ 徑賽 100/200/400m 全數破校紀
✓ 接力隊 4×100m 達區賽標準
✓ 跳遠破 30 年校紀（5.42m）
✗ 鉛球、鐵餅連兩年未破紀錄
✗ 跳高前 3 名差校紀 5-8cm
✗ 團體競賽（拔河）3 連敗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TC"/>
              </a:rPr>
              <a:t>資料來源：體育組競賽紀錄表；校紀比對至 97 學年以來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9144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Noto Sans CJK TC"/>
              </a:rP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Noto Sans CJK TC"/>
              </a:rPr>
              <a:t>OO 國民中學 · 校慶運動會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Noto Sans CJK TC"/>
              </a:rPr>
              <a:t>方案：田賽增聘教練、團體賽改聯隊制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TC"/>
              </a:rPr>
              <a:t>3 項具體作為與時程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34747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3474720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7004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TC"/>
              </a:rPr>
              <a:t>增聘田賽專項教練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46120"/>
            <a:ext cx="3108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TC"/>
              </a:rPr>
              <a:t>• 鉛球/鐵餅 1 名（外聘）
• 預算：8 萬 / 學期
• 8 月起聘，每週 2 次
• KPI：1 年內破 1 項校紀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715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Noto Sans CJK TC"/>
              </a:rPr>
              <a:t>▶ 115 學年寒假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560320"/>
            <a:ext cx="34747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560320"/>
            <a:ext cx="3474720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67004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TC"/>
              </a:rPr>
              <a:t>團體賽改聯隊制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46120"/>
            <a:ext cx="3108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TC"/>
              </a:rPr>
              <a:t>• 跨班抽籤組聯隊
• 拔河/大隊接力
• 提升練習出席
• KPI：團體賽前三名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715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Noto Sans CJK TC"/>
              </a:rPr>
              <a:t>▶ 115-2 學期起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2560320"/>
            <a:ext cx="34747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2560320"/>
            <a:ext cx="3474720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267004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TC"/>
              </a:rPr>
              <a:t>家長親子賽擴大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3246120"/>
            <a:ext cx="3108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TC"/>
              </a:rPr>
              <a:t>• 從 2 項 → 4 項
• 增加家長有獎徵答
• 鼓勵祖孫參與
• KPI：家長參與 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5715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Noto Sans CJK TC"/>
              </a:rPr>
              <a:t>▶ 116 校慶運動會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9144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Noto Sans CJK TC"/>
              </a:rP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Noto Sans CJK TC"/>
              </a:rPr>
              <a:t>OO 國民中學 · 校慶運動會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Noto Sans CJK TC"/>
              </a:rPr>
              <a:t>成本效益：8 萬換 5 項校紀、滿意度預估 +0.4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TC"/>
              </a:rPr>
              <a:t>投入 vs 預期產出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486400" cy="36576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Noto Sans CJK TC"/>
              </a:rPr>
              <a:t>投入（115-2 學期）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51206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CJK TC"/>
              </a:rPr>
              <a:t>• 田賽外聘教練：80,000 元
  （來源：家長會贊助 6 萬、校友會 2 萬）
• 團體賽器材更新：12,000 元
• 親子賽獎品擴增：8,000 元
• 合計：100,000 元 / 學期
• 教師鐘點費另由校內預算勻支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560320"/>
            <a:ext cx="5486400" cy="36576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6517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A33D"/>
                </a:solidFill>
                <a:latin typeface="Noto Sans CJK TC"/>
              </a:rPr>
              <a:t>預期產出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200400"/>
            <a:ext cx="51206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CJK TC"/>
              </a:rPr>
              <a:t>• 1 年內田賽破 ≥ 1 項校紀
• 團體賽進入前三名
• 家長滿意度 4.6 → 5.0
• 學生參與穩定 ≥ 96%
• 對外宣傳效益：5 家媒體報導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TC"/>
              </a:rPr>
              <a:t>成本由家長會與校友會贊助，校內預算零負擔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91440"/>
            <a:ext cx="777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Noto Sans CJK TC"/>
              </a:rP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Noto Sans CJK TC"/>
              </a:rPr>
              <a:t>OO 國民中學 · 校慶運動會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Noto Sans CJK TC"/>
              </a:rPr>
              <a:t>風險：教練到位時間、家長報名超量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TC"/>
              </a:rPr>
              <a:t>3 項風險與配套措施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3474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91440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651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38328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TC"/>
              </a:rPr>
              <a:t>外聘教練 8 月到位時間差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66344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3A5F"/>
                </a:solidFill>
                <a:latin typeface="Noto Sans CJK TC"/>
              </a:rPr>
              <a:t>配套：• 提前 4 月公告招募
• 候補名單 2 位
• 校內教練先代帶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560320"/>
            <a:ext cx="3474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560320"/>
            <a:ext cx="91440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2651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8328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TC"/>
              </a:rPr>
              <a:t>親子賽報名超量（估 1,000 人）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66344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3A5F"/>
                </a:solidFill>
                <a:latin typeface="Noto Sans CJK TC"/>
              </a:rPr>
              <a:t>配套：• 採分梯分流（上午/下午）
• 報名截止 9/30
• 候補改下屆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2560320"/>
            <a:ext cx="3474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2560320"/>
            <a:ext cx="914400" cy="6400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9" y="2651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R3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338328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CJK TC"/>
              </a:rPr>
              <a:t>團體賽聯隊制磨合期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466344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3A5F"/>
                </a:solidFill>
                <a:latin typeface="Noto Sans CJK TC"/>
              </a:rPr>
              <a:t>配套：• 8 月先辦共識營
• 練習紀錄上傳
• 體育組長協調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897880"/>
            <a:ext cx="10908792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9436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CJK TC"/>
              </a:rPr>
              <a:t>三項風險皆有對應配套，整體計畫風險可控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Noto Sans CJK TC"/>
              </a:rPr>
              <a:t>請 示 事 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457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A33D"/>
                </a:solidFill>
                <a:latin typeface="Noto Sans CJK TC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317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Noto Sans CJK TC"/>
              </a:rPr>
              <a:t>核定田賽外聘教練 8 萬元（家長會+校友會贊助）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457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A33D"/>
                </a:solidFill>
                <a:latin typeface="Noto Sans CJK TC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337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Noto Sans CJK TC"/>
              </a:rPr>
              <a:t>核定 115-2 學期起團體賽改聯隊制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457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A33D"/>
                </a:solidFill>
                <a:latin typeface="Noto Sans CJK TC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343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Noto Sans CJK TC"/>
              </a:rPr>
              <a:t>核定 116 校慶運動會擴大為半日（8:00-12:00）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8A33D"/>
                </a:solidFill>
                <a:latin typeface="Noto Sans CJK TC"/>
              </a:rPr>
              <a:t>報告結束，敬請裁示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E8ECF0"/>
                </a:solidFill>
                <a:latin typeface="Noto Sans CJK TC"/>
              </a:rPr>
              <a:t>學務處體育組 · 115/11/12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
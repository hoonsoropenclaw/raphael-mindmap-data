
<file path=[Content_Types].xml><?xml version="1.0" encoding="utf-8"?>
<Types xmlns="http://schemas.openxmlformats.org/package/2006/content-types">
  <Default Extension="fntdata" ContentType="application/vnd.openxmlformats-officedocument.obfuscatedFont"/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mbeddedFontLst>
    <p:embeddedFont>
      <p:font typeface="Noto Sans CJK TC" pitchFamily="34" charset="0"/>
      <p:regular r:id="rId13"/>
    </p:embeddedFont>
    <p:embeddedFont>
      <p:font typeface="Noto Sans CJK TC" pitchFamily="34" charset="0"/>
      <p:bold r:id="rId1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font" Target="fonts/font1.fntdata"/><Relationship Id="rId14" Type="http://schemas.openxmlformats.org/officeDocument/2006/relationships/font" Target="fonts/font2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開場（60 秒）</a:t>
            </a:r>
          </a:p>
          <a:p>
            <a:r>
              <a:t>- 這份簡報只有一個決定要您做：未支用的經費要繳回，還是報請保留到 114 年度。</a:t>
            </a:r>
          </a:p>
          <a:p>
            <a:r>
              <a:t>- 先講現況：截至 113 年 12 月 31 日，本專案已執行 2,890,000 元，</a:t>
            </a:r>
          </a:p>
          <a:p>
            <a:r>
              <a:t>  占表頭核定總金額 74.9%；還有 910,000 元沒有支用。</a:t>
            </a:r>
          </a:p>
          <a:p>
            <a:r>
              <a:t>- 金額、時程、處理方式三個錨點都在封面：金額 910,000 元、</a:t>
            </a:r>
          </a:p>
          <a:p>
            <a:r>
              <a:t>  處理方式兩種（繳回或保留）、期限是年度結束後依規定辦理。</a:t>
            </a:r>
          </a:p>
          <a:p>
            <a:r>
              <a:t>- 我要特別先講一件事：本簡報的數字有兩個口徑，表頭寫核定總金額</a:t>
            </a:r>
          </a:p>
          <a:p>
            <a:r>
              <a:t>  3,860,000 元，但 9 個項次加總只有 3,800,000 元，</a:t>
            </a:r>
          </a:p>
          <a:p>
            <a:r>
              <a:t>  相差 60,000 元，本表沒有寫這個差額從哪來。</a:t>
            </a:r>
          </a:p>
          <a:p>
            <a:r>
              <a:t>  我沒有把它補平、也沒有挑一個口徑講，這是待確認事項第 1 項。</a:t>
            </a:r>
          </a:p>
          <a:p>
            <a:r>
              <a:t>- 另外要說清楚：這份簡報講的是已經發生的錢怎麼交代，不是申請新的錢。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這頁（1.5 分鐘）</a:t>
            </a:r>
          </a:p>
          <a:p>
            <a:r>
              <a:t>- 兩個口徑對照那頁，上面兩列：上列是表頭口徑，下列是明細口徑，橘色都是已執行</a:t>
            </a:r>
          </a:p>
          <a:p>
            <a:r>
              <a:t>  2,890,000 元，灰色是還沒支用的部分。</a:t>
            </a:r>
          </a:p>
          <a:p>
            <a:r>
              <a:t>- 中間那條斜線的 60,000 元，就是表頭和明細對不上的地方。</a:t>
            </a:r>
          </a:p>
          <a:p>
            <a:r>
              <a:t>  這個數字本來不在原稿裡，是我把 9 個項次加起來跟表頭相減算出來的。</a:t>
            </a:r>
          </a:p>
          <a:p>
            <a:r>
              <a:t>- 執行率因此有兩個：74.9% 與 76.1%，</a:t>
            </a:r>
          </a:p>
          <a:p>
            <a:r>
              <a:t>  差 1.2 個百分點。單位是「百分點」，不是百分比——兩個分母不同，</a:t>
            </a:r>
          </a:p>
          <a:p>
            <a:r>
              <a:t>  相減得到的差距就是百分點。</a:t>
            </a:r>
          </a:p>
          <a:p>
            <a:r>
              <a:t>- 主管如果問「那你到底用哪個」：現在還不能決定，因為差額的來源本表沒寫。</a:t>
            </a:r>
          </a:p>
          <a:p>
            <a:r>
              <a:t>  這是待確認第 1 項，總務處確認後才能定案。</a:t>
            </a:r>
          </a:p>
          <a:p>
            <a:r>
              <a:t>- 我不做的三件事：不把 6 萬補進任何一個項次、不選一個口徑當唯一答案、不猜這 6 萬是什麼。</a:t>
            </a:r>
          </a:p>
          <a:p>
            <a:r>
              <a:t>- 這頁的用意是讓主管知道：這份結案數字還有一個洞，而洞的位置我已經標出來了。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這頁（2 分鐘，這是今天最重要的一頁）</a:t>
            </a:r>
          </a:p>
          <a:p>
            <a:r>
              <a:t>- 未支用分解那頁，左邊這張是未支用金額的組成：尚未發包 810,000 元，</a:t>
            </a:r>
          </a:p>
          <a:p>
            <a:r>
              <a:t>  執行中待付 88,000 元，待驗收尾款 12,000 元。</a:t>
            </a:r>
          </a:p>
          <a:p>
            <a:r>
              <a:t>- 先講最重要的判斷：最大的那一塊是「尚未發包」，也就是錢還沒花出去。</a:t>
            </a:r>
          </a:p>
          <a:p>
            <a:r>
              <a:t>  這跟「已經花掉但沒付」是完全不同的性質，處理方式也不一樣。</a:t>
            </a:r>
          </a:p>
          <a:p>
            <a:r>
              <a:t>- 這裡要特別小心口徑：原稿附註二載明「尚未發包」項目以 0 表示已核定金額全數未支用，</a:t>
            </a:r>
          </a:p>
          <a:p>
            <a:r>
              <a:t>  不是資料缺漏。所以 0 在這個表裡是「量到了 0」，不是「不知道」——</a:t>
            </a:r>
          </a:p>
          <a:p>
            <a:r>
              <a:t>  這兩個在事實分層那頁，用不同的視覺語言區分。</a:t>
            </a:r>
          </a:p>
          <a:p>
            <a:r>
              <a:t>- 狀態分組那頁，右邊是四種狀態分組：已完工驗收 3 項全部支用完、執行中 2 項、</a:t>
            </a:r>
          </a:p>
          <a:p>
            <a:r>
              <a:t>  待驗收 1 項、尚未發包 2 項。</a:t>
            </a:r>
          </a:p>
          <a:p>
            <a:r>
              <a:t>- 逐組講執行率：已完工那組是 100%，待驗收那組 95.7%（尾款 12,000 元是推估），</a:t>
            </a:r>
          </a:p>
          <a:p>
            <a:r>
              <a:t>  執行中那組 87.8%（項次 2、7 合計 632,000 元 ÷ 核定 720,000 元；注意不是項次 2 單項的 94.2%），</a:t>
            </a:r>
          </a:p>
          <a:p>
            <a:r>
              <a:t>  尚未發包那組是 0%。</a:t>
            </a:r>
          </a:p>
          <a:p>
            <a:r>
              <a:t>- 這頁要讓主管聽懂一句話：沒花掉的錢，主因不是工程延誤或付款作業，</a:t>
            </a:r>
          </a:p>
          <a:p>
            <a:r>
              <a:t>  是有兩個工程根本還沒發包。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這頁（1 分鐘，收尾）</a:t>
            </a:r>
          </a:p>
          <a:p>
            <a:r>
              <a:t>- 三個請示事項逐條念：未支用金額 910,000 元（明細口徑）、</a:t>
            </a:r>
          </a:p>
          <a:p>
            <a:r>
              <a:t>  處理方式 繳回 或 報請保留至 114 年度、報請期限是 113 年度結束後依規定辦理。</a:t>
            </a:r>
          </a:p>
          <a:p>
            <a:r>
              <a:t>- 金額那欄我把兩個口徑都寫上去：明細口徑 910,000 元、</a:t>
            </a:r>
          </a:p>
          <a:p>
            <a:r>
              <a:t>  表頭口徑 970,000 元。差額待確認，這是刻意的。</a:t>
            </a:r>
          </a:p>
          <a:p>
            <a:r>
              <a:t>- 右邊 3 項是我自己校對經費表時發現的問題：表頭與明細差 60,000 元來源未載明；</a:t>
            </a:r>
          </a:p>
          <a:p>
            <a:r>
              <a:t>  項次 9 增列項目核定金額未載明；項次 5 尾款 12,000 元是推估。</a:t>
            </a:r>
          </a:p>
          <a:p>
            <a:r>
              <a:t>  每一項都寫了主責單位與期限，主責都是 總務處。</a:t>
            </a:r>
          </a:p>
          <a:p>
            <a:r>
              <a:t>- 決定句之後我要補一句條件式：**核准後續辦的條件**是 3 項待確認事項釐清、</a:t>
            </a:r>
          </a:p>
          <a:p>
            <a:r>
              <a:t>  差額歸屬確認後，才好據以辦理繳回或保留。</a:t>
            </a:r>
          </a:p>
          <a:p>
            <a:r>
              <a:t>  不是「核准就一定照這樣辦」——金額基準還沒定，辦法不能先講死。</a:t>
            </a:r>
          </a:p>
          <a:p>
            <a:r>
              <a:t>- 最後一句留給主管：處理方式今天就可以決定，3 項待確認在結案報告送審前補齊即可。</a:t>
            </a:r>
          </a:p>
          <a:p>
            <a:r>
              <a:t>- 補充提醒：確認前這份簡報的數字不要對外引用，避免被拿去做對外發布。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這頁（2 分鐘）</a:t>
            </a:r>
          </a:p>
          <a:p>
            <a:r>
              <a:t>- 事實分層那頁，這是附錄頁，把 9 個項次按事實分層排出來，是我這份簡報的方法說明。</a:t>
            </a:r>
          </a:p>
          <a:p>
            <a:r>
              <a:t>  主管若沒有追問數字怎麼來的，這頁可以跳過。</a:t>
            </a:r>
          </a:p>
          <a:p>
            <a:r>
              <a:t>- 三層怎麼分：實心的橘色與灰色是「已核定」，就是本表明載的數字；</a:t>
            </a:r>
          </a:p>
          <a:p>
            <a:r>
              <a:t>  虛線框住的是「推估」；斜線填色、標「待核定」的是「未知」。</a:t>
            </a:r>
          </a:p>
          <a:p>
            <a:r>
              <a:t>- 已核定層：8 個項次，</a:t>
            </a:r>
          </a:p>
          <a:p>
            <a:r>
              <a:t>  核定金額與已執行金額都是截至基準日的實數，可以直接當事實講。</a:t>
            </a:r>
          </a:p>
          <a:p>
            <a:r>
              <a:t>- 推估層只有一個：項次 5 校區無障礙坡道的尾款 12,000 元。</a:t>
            </a:r>
          </a:p>
          <a:p>
            <a:r>
              <a:t>  原稿附註四寫得很清楚，是依契約估驗計價金額推估，實際以驗收後結算為準。</a:t>
            </a:r>
          </a:p>
          <a:p>
            <a:r>
              <a:t>  所以我用虛線框起來，不跟已核定的實數混在一起。</a:t>
            </a:r>
          </a:p>
          <a:p>
            <a:r>
              <a:t>- 未知層有兩個：項次 9 會議室冷氣機是 113 年 10 月簽陳的增列項目，核定金額本表未載明；</a:t>
            </a:r>
          </a:p>
          <a:p>
            <a:r>
              <a:t>  還有表頭跟明細那 60,000 元差額的歸屬也未載明。</a:t>
            </a:r>
          </a:p>
          <a:p>
            <a:r>
              <a:t>- 這裡我要講一個主管最容易搞混的點：**空白不等於 0**。</a:t>
            </a:r>
          </a:p>
          <a:p>
            <a:r>
              <a:t>  項次 3、項次 6 是金額已核定但完全沒支用，那是 0；項次 9 是根本不知道金額，那是空白。</a:t>
            </a:r>
          </a:p>
          <a:p>
            <a:r>
              <a:t>  兩件事的處理方式不同，所以我不把它們混在一起講——事實分層那頁，用不同的視覺語言區分。</a:t>
            </a:r>
          </a:p>
          <a:p>
            <a:r>
              <a:t>- 最後提醒：未知層的項目在簽呈時確認前，這份簡報的相關數字不要對外引用。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86384"/>
            <a:ext cx="1463040" cy="50292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24128"/>
            <a:ext cx="10728655" cy="1847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3200" b="1">
                <a:solidFill>
                  <a:srgbClr val="E6E9EF"/>
                </a:solidFill>
                <a:latin typeface="Noto Sans CJK TC"/>
              </a:rPr>
              <a:t>113 年度已執行 289.0 萬元、執行率 74.9%，未支用 91.0 萬元待處理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200" b="1">
                <a:solidFill>
                  <a:srgbClr val="E8A33D"/>
                </a:solidFill>
                <a:latin typeface="Noto Sans CJK TC"/>
              </a:rPr>
              <a:t>請決定：未支用經費繳回，或報請保留至 114 年度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35808"/>
            <a:ext cx="1072865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500"/>
              </a:spcAft>
            </a:pPr>
            <a:r>
              <a:rPr sz="1800" b="0">
                <a:solidFill>
                  <a:srgbClr val="6FA8B8"/>
                </a:solidFill>
                <a:latin typeface="Noto Sans CJK TC"/>
              </a:rPr>
              <a:t>統計基準日 113 年 12 月 31 日｜主辦單位 總務處｜核定 113 年 8 月 12 日府函核定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800" b="0">
                <a:solidFill>
                  <a:srgbClr val="9AA3B2"/>
                </a:solidFill>
                <a:latin typeface="Noto Sans CJK TC"/>
              </a:rPr>
              <a:t>經費來源：市政府專案補助款，採專款專用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931920"/>
            <a:ext cx="3401568" cy="1700784"/>
          </a:xfrm>
          <a:prstGeom prst="rect">
            <a:avLst/>
          </a:prstGeom>
          <a:solidFill>
            <a:srgbClr val="1D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3931920"/>
            <a:ext cx="3401568" cy="4572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4133087"/>
            <a:ext cx="2889504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E8A33D"/>
                </a:solidFill>
                <a:latin typeface="Noto Sans CJK TC"/>
              </a:rPr>
              <a:t>289.0 萬元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4626864"/>
            <a:ext cx="2889504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800" b="1">
                <a:solidFill>
                  <a:srgbClr val="E6E9EF"/>
                </a:solidFill>
                <a:latin typeface="Noto Sans CJK TC"/>
              </a:rPr>
              <a:t>截至基準日已執行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350" b="0">
                <a:solidFill>
                  <a:srgbClr val="9AA3B2"/>
                </a:solidFill>
                <a:latin typeface="Noto Sans CJK TC"/>
              </a:rPr>
              <a:t>執行率 74.9%＝已執行 289.0 萬 ÷ 表頭核定 386.0 萬</a:t>
            </a:r>
          </a:p>
        </p:txBody>
      </p:sp>
      <p:sp>
        <p:nvSpPr>
          <p:cNvPr id="9" name="Rectangle 8"/>
          <p:cNvSpPr/>
          <p:nvPr/>
        </p:nvSpPr>
        <p:spPr>
          <a:xfrm>
            <a:off x="4334256" y="3931920"/>
            <a:ext cx="3401568" cy="1700784"/>
          </a:xfrm>
          <a:prstGeom prst="rect">
            <a:avLst/>
          </a:prstGeom>
          <a:solidFill>
            <a:srgbClr val="1D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34256" y="3931920"/>
            <a:ext cx="3401568" cy="4572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4133087"/>
            <a:ext cx="2889504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E8A33D"/>
                </a:solidFill>
                <a:latin typeface="Noto Sans CJK TC"/>
              </a:rPr>
              <a:t>91.0 萬元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4626864"/>
            <a:ext cx="2889504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800" b="1">
                <a:solidFill>
                  <a:srgbClr val="E6E9EF"/>
                </a:solidFill>
                <a:latin typeface="Noto Sans CJK TC"/>
              </a:rPr>
              <a:t>未支用待處理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350" b="0">
                <a:solidFill>
                  <a:srgbClr val="9AA3B2"/>
                </a:solidFill>
                <a:latin typeface="Noto Sans CJK TC"/>
              </a:rPr>
              <a:t>289.0 萬＋91.0 萬＝明細核定 380.0 萬｜尚未發包 81.0 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36992" y="3931920"/>
            <a:ext cx="3401568" cy="1700784"/>
          </a:xfrm>
          <a:prstGeom prst="rect">
            <a:avLst/>
          </a:prstGeom>
          <a:solidFill>
            <a:srgbClr val="1D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36992" y="3931920"/>
            <a:ext cx="3401568" cy="4572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93024" y="4133087"/>
            <a:ext cx="2889504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E8A33D"/>
                </a:solidFill>
                <a:latin typeface="Noto Sans CJK TC"/>
              </a:rPr>
              <a:t>60,000 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93024" y="4626864"/>
            <a:ext cx="2889504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800" b="1">
                <a:solidFill>
                  <a:srgbClr val="E6E9EF"/>
                </a:solidFill>
                <a:latin typeface="Noto Sans CJK TC"/>
              </a:rPr>
              <a:t>表頭與明細差額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350" b="0">
                <a:solidFill>
                  <a:srgbClr val="9AA3B2"/>
                </a:solidFill>
                <a:latin typeface="Noto Sans CJK TC"/>
              </a:rPr>
              <a:t>本表未載明來源，待確認（不得自行併入）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779008"/>
            <a:ext cx="107286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500" b="0">
                <a:solidFill>
                  <a:srgbClr val="9AA3B2"/>
                </a:solidFill>
                <a:latin typeface="Noto Sans CJK TC"/>
              </a:rPr>
              <a:t>本簡報另載 3 項待確認事項（主責：總務處）；確認前不得對外引用相關數字。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9AA3B2"/>
                </a:solidFill>
                <a:latin typeface="Noto Sans CJK TC"/>
              </a:rPr>
              <a:t>經費表所載數字均取自原稿；比率依原稿分母回算；「待核定」項目未載明金額者不填數字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75488"/>
            <a:ext cx="1280160" cy="50292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5327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800" b="1">
                <a:solidFill>
                  <a:srgbClr val="E6E9EF"/>
                </a:solidFill>
                <a:latin typeface="Noto Sans CJK TC"/>
              </a:rPr>
              <a:t>已執行 2,890,000 元，但表頭與明細有 60,000 元差額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72870"/>
            <a:ext cx="1072865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800" b="0">
                <a:solidFill>
                  <a:srgbClr val="9AA3B2"/>
                </a:solidFill>
                <a:latin typeface="Noto Sans CJK TC"/>
              </a:rPr>
              <a:t>兩個口徑分別是 74.9%（表頭）與 76.1%（明細），相差 1.2 個百分點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2895" y="638251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9AA3B2"/>
                </a:solidFill>
                <a:latin typeface="Noto Sans CJK TC"/>
              </a:rPr>
              <a:t>2 /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82512"/>
            <a:ext cx="7680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AA3B2"/>
                </a:solidFill>
                <a:latin typeface="Noto Sans CJK TC"/>
              </a:rPr>
              <a:t>資料來源：113 年度校舍修繕及設備汰換專案經費表（統計基準日 113 年 12 月 31 日）</a:t>
            </a:r>
          </a:p>
        </p:txBody>
      </p:sp>
      <p:pic>
        <p:nvPicPr>
          <p:cNvPr id="7" name="Picture 6" descr="c1-two-denominat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103120"/>
            <a:ext cx="10728655" cy="2286584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31520" y="4443984"/>
            <a:ext cx="10728655" cy="411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562856"/>
            <a:ext cx="10728655" cy="1408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700" b="1">
                <a:solidFill>
                  <a:srgbClr val="E8A33D"/>
                </a:solidFill>
                <a:latin typeface="Noto Sans CJK TC"/>
              </a:rPr>
              <a:t>要主動講的一件事：表頭核定總金額 3,860,000 元，與 9 個項次加總 3,800,000 元不一致。本表未載明差額 60,000 元的來源。</a:t>
            </a: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700" b="0">
                <a:solidFill>
                  <a:srgbClr val="E6E9EF"/>
                </a:solidFill>
                <a:latin typeface="Noto Sans CJK TC"/>
              </a:rPr>
              <a:t>因此執行率有兩個口徑：表頭口徑 74.9%、明細口徑 76.1%，相差 1.2 個百分點；未支用金額亦隨分母而異。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700" b="0">
                <a:solidFill>
                  <a:srgbClr val="E6E9EF"/>
                </a:solidFill>
                <a:latin typeface="Noto Sans CJK TC"/>
              </a:rPr>
              <a:t>這兩組數字我照實並列，不挑一個講、不把差額補平——差額歸屬列入簽呈前待確認。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75488"/>
            <a:ext cx="1280160" cy="50292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5327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800" b="1">
                <a:solidFill>
                  <a:srgbClr val="E6E9EF"/>
                </a:solidFill>
                <a:latin typeface="Noto Sans CJK TC"/>
              </a:rPr>
              <a:t>未支用 910,000 元中，81.0 萬元是尚未發包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72870"/>
            <a:ext cx="1072865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800" b="0">
                <a:solidFill>
                  <a:srgbClr val="9AA3B2"/>
                </a:solidFill>
                <a:latin typeface="Noto Sans CJK TC"/>
              </a:rPr>
              <a:t>尚未發包占未支用金額 89.0%，不是已經花掉但沒付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2895" y="638251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9AA3B2"/>
                </a:solidFill>
                <a:latin typeface="Noto Sans CJK TC"/>
              </a:rPr>
              <a:t>3 /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82512"/>
            <a:ext cx="7680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AA3B2"/>
                </a:solidFill>
                <a:latin typeface="Noto Sans CJK TC"/>
              </a:rPr>
              <a:t>資料來源：113 年度校舍修繕及設備汰換專案經費表（統計基準日 113 年 12 月 31 日）</a:t>
            </a:r>
          </a:p>
        </p:txBody>
      </p:sp>
      <p:pic>
        <p:nvPicPr>
          <p:cNvPr id="7" name="Picture 6" descr="c2-unspent-break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121408"/>
            <a:ext cx="5175504" cy="2395728"/>
          </a:xfrm>
          <a:prstGeom prst="rect">
            <a:avLst/>
          </a:prstGeom>
        </p:spPr>
      </p:pic>
      <p:pic>
        <p:nvPicPr>
          <p:cNvPr id="8" name="Picture 7" descr="c3-status-grou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3056" y="2121408"/>
            <a:ext cx="5175504" cy="239572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31520" y="4809744"/>
            <a:ext cx="10728655" cy="411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928616"/>
            <a:ext cx="10728655" cy="1408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700" b="1">
                <a:solidFill>
                  <a:srgbClr val="E8A33D"/>
                </a:solidFill>
                <a:latin typeface="Noto Sans CJK TC"/>
              </a:rPr>
              <a:t>關鍵判斷：未支用金額最大的部分是「尚未發包」810,000 元，占未支用的 89.0%；金額已核定但尚未動用。</a:t>
            </a: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700" b="0">
                <a:solidFill>
                  <a:srgbClr val="E6E9EF"/>
                </a:solidFill>
                <a:latin typeface="Noto Sans CJK TC"/>
              </a:rPr>
              <a:t>相對地，執行中待付 88,000 元、待驗收尾款 12,000 元（尾款為推估金額），兩者合計僅占 11.0%。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700" b="0">
                <a:solidFill>
                  <a:srgbClr val="E6E9EF"/>
                </a:solidFill>
                <a:latin typeface="Noto Sans CJK TC"/>
              </a:rPr>
              <a:t>右側狀態分組：已完工驗收 3 項（已全數支用）、執行中 2 項、待驗收 1 項、尚未發包 2 項（項次 9 亦屬尚未發包，但核定金額未載明、不計入金額統計）。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75488"/>
            <a:ext cx="1280160" cy="50292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5327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800" b="1">
                <a:solidFill>
                  <a:srgbClr val="E6E9EF"/>
                </a:solidFill>
                <a:latin typeface="Noto Sans CJK TC"/>
              </a:rPr>
              <a:t>請決定未支用經費的處理方式，並確認 3 項本表未載明之處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72870"/>
            <a:ext cx="1072865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800" b="0">
                <a:solidFill>
                  <a:srgbClr val="9AA3B2"/>
                </a:solidFill>
                <a:latin typeface="Noto Sans CJK TC"/>
              </a:rPr>
              <a:t>處理方式兩種：繳回 或 報請保留至 114 年度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2895" y="638251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9AA3B2"/>
                </a:solidFill>
                <a:latin typeface="Noto Sans CJK TC"/>
              </a:rPr>
              <a:t>4 /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82512"/>
            <a:ext cx="7680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AA3B2"/>
                </a:solidFill>
                <a:latin typeface="Noto Sans CJK TC"/>
              </a:rPr>
              <a:t>資料來源：113 年度校舍修繕及設備汰換專案經費表（統計基準日 113 年 12 月 31 日）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01952"/>
            <a:ext cx="6309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E8A33D"/>
                </a:solidFill>
                <a:latin typeface="Noto Sans CJK TC"/>
              </a:rPr>
              <a:t>請示事項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322576"/>
            <a:ext cx="6309360" cy="969264"/>
          </a:xfrm>
          <a:prstGeom prst="rect">
            <a:avLst/>
          </a:prstGeom>
          <a:solidFill>
            <a:srgbClr val="1D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322576"/>
            <a:ext cx="45720" cy="96926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414016"/>
            <a:ext cx="182880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9AA3B2"/>
                </a:solidFill>
                <a:latin typeface="Noto Sans CJK TC"/>
              </a:rPr>
              <a:t>未支用金額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2404872"/>
            <a:ext cx="397763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E8A33D"/>
                </a:solidFill>
                <a:latin typeface="Noto Sans CJK TC"/>
              </a:rPr>
              <a:t>910,000 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2752344"/>
            <a:ext cx="3977639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>
                <a:solidFill>
                  <a:srgbClr val="9AA3B2"/>
                </a:solidFill>
                <a:latin typeface="Noto Sans CJK TC"/>
              </a:rPr>
              <a:t>明細口徑（8 個項次加總）；表頭口徑則為 970,000 元，差額待確認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383280"/>
            <a:ext cx="6309360" cy="969264"/>
          </a:xfrm>
          <a:prstGeom prst="rect">
            <a:avLst/>
          </a:prstGeom>
          <a:solidFill>
            <a:srgbClr val="1D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383280"/>
            <a:ext cx="45720" cy="96926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3474720"/>
            <a:ext cx="182880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9AA3B2"/>
                </a:solidFill>
                <a:latin typeface="Noto Sans CJK TC"/>
              </a:rPr>
              <a:t>處理方式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3465576"/>
            <a:ext cx="397763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E8A33D"/>
                </a:solidFill>
                <a:latin typeface="Noto Sans CJK TC"/>
              </a:rPr>
              <a:t>繳回 或 報請保留至 114 年度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360" y="3813048"/>
            <a:ext cx="3977639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>
                <a:solidFill>
                  <a:srgbClr val="9AA3B2"/>
                </a:solidFill>
                <a:latin typeface="Noto Sans CJK TC"/>
              </a:rPr>
              <a:t>113 年度未執行部分，應於年度結束後依規定辦理繳回或報請保留至 114 年度；未經報准不得逕行保留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443984"/>
            <a:ext cx="6309360" cy="969264"/>
          </a:xfrm>
          <a:prstGeom prst="rect">
            <a:avLst/>
          </a:prstGeom>
          <a:solidFill>
            <a:srgbClr val="1D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4443984"/>
            <a:ext cx="45720" cy="96926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" y="4535424"/>
            <a:ext cx="182880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9AA3B2"/>
                </a:solidFill>
                <a:latin typeface="Noto Sans CJK TC"/>
              </a:rPr>
              <a:t>報請期限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80360" y="4526280"/>
            <a:ext cx="397763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E8A33D"/>
                </a:solidFill>
                <a:latin typeface="Noto Sans CJK TC"/>
              </a:rPr>
              <a:t>113 年度結束後依規定辦理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80360" y="4873752"/>
            <a:ext cx="3977639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>
                <a:solidFill>
                  <a:srgbClr val="9AA3B2"/>
                </a:solidFill>
                <a:latin typeface="Noto Sans CJK TC"/>
              </a:rPr>
              <a:t>未經報准不得逕行保留；確認前不得對外引用相關數字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1901952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D07A6C"/>
                </a:solidFill>
                <a:latin typeface="Noto Sans CJK TC"/>
              </a:rPr>
              <a:t>簽呈前須確認（本表未載明之處）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0" y="2322576"/>
            <a:ext cx="4023360" cy="969264"/>
          </a:xfrm>
          <a:prstGeom prst="rect">
            <a:avLst/>
          </a:prstGeom>
          <a:solidFill>
            <a:srgbClr val="1D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0" y="2322576"/>
            <a:ext cx="45720" cy="969264"/>
          </a:xfrm>
          <a:prstGeom prst="rect">
            <a:avLst/>
          </a:prstGeom>
          <a:solidFill>
            <a:srgbClr val="D07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52944" y="2395728"/>
            <a:ext cx="3657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E6E9EF"/>
                </a:solidFill>
                <a:latin typeface="Noto Sans CJK TC"/>
              </a:rPr>
              <a:t>表頭合計與明細加總差 60,000 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52944" y="2688336"/>
            <a:ext cx="365760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>
                <a:solidFill>
                  <a:srgbClr val="9AA3B2"/>
                </a:solidFill>
                <a:latin typeface="Noto Sans CJK TC"/>
              </a:rPr>
              <a:t>表頭核定總金額 3,860,000 元，9 個項次加總 3,800,000 元。相差 60,000 元，本表未載明此差額來源。主責：總務處｜期限：結案報告送審前確認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0" y="3383280"/>
            <a:ext cx="4023360" cy="969264"/>
          </a:xfrm>
          <a:prstGeom prst="rect">
            <a:avLst/>
          </a:prstGeom>
          <a:solidFill>
            <a:srgbClr val="1D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15200" y="3383280"/>
            <a:ext cx="45720" cy="969264"/>
          </a:xfrm>
          <a:prstGeom prst="rect">
            <a:avLst/>
          </a:prstGeom>
          <a:solidFill>
            <a:srgbClr val="D07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52944" y="3456432"/>
            <a:ext cx="3657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E6E9EF"/>
                </a:solidFill>
                <a:latin typeface="Noto Sans CJK TC"/>
              </a:rPr>
              <a:t>項次 9 增列項目核定金額未載明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52944" y="3749040"/>
            <a:ext cx="365760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>
                <a:solidFill>
                  <a:srgbClr val="9AA3B2"/>
                </a:solidFill>
                <a:latin typeface="Noto Sans CJK TC"/>
              </a:rPr>
              <a:t>會議室冷氣機為 113 年 10 月簽陳之增列項目，核定金額待核定；本表未載明其是否併入核定總額之計算。主責：總務處｜期限：結案報告送審前確認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0" y="4443984"/>
            <a:ext cx="4023360" cy="969264"/>
          </a:xfrm>
          <a:prstGeom prst="rect">
            <a:avLst/>
          </a:prstGeom>
          <a:solidFill>
            <a:srgbClr val="1D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315200" y="4443984"/>
            <a:ext cx="45720" cy="969264"/>
          </a:xfrm>
          <a:prstGeom prst="rect">
            <a:avLst/>
          </a:prstGeom>
          <a:solidFill>
            <a:srgbClr val="D07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52944" y="4517136"/>
            <a:ext cx="3657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E6E9EF"/>
                </a:solidFill>
                <a:latin typeface="Noto Sans CJK TC"/>
              </a:rPr>
              <a:t>項次 5 尾款 12,000 元為推估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52944" y="4809744"/>
            <a:ext cx="365760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>
                <a:solidFill>
                  <a:srgbClr val="9AA3B2"/>
                </a:solidFill>
                <a:latin typeface="Noto Sans CJK TC"/>
              </a:rPr>
              <a:t>尾款係依契約估驗計價金額推估，實際以驗收後結算為準。主責：總務處｜期限：驗收結算後更新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5504688"/>
            <a:ext cx="10728655" cy="411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5623560"/>
            <a:ext cx="10728655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600" b="1">
                <a:solidFill>
                  <a:srgbClr val="E8A33D"/>
                </a:solidFill>
                <a:latin typeface="Noto Sans CJK TC"/>
              </a:rPr>
              <a:t>決定句：請決定未支用經費繳回或報請保留至 114 年度，並確認本簡報所列 3 項未載明之處。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400" b="0">
                <a:solidFill>
                  <a:srgbClr val="9AA3B2"/>
                </a:solidFill>
                <a:latin typeface="Noto Sans CJK TC"/>
              </a:rPr>
              <a:t>核准後續辦條件式說明：待 3 項待確認事項釐清、差額歸屬確認後，始得據以辦理繳回或保留。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75488"/>
            <a:ext cx="1280160" cy="50292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10107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800" b="1">
                <a:solidFill>
                  <a:srgbClr val="E6E9EF"/>
                </a:solidFill>
                <a:latin typeface="Noto Sans CJK TC"/>
              </a:rPr>
              <a:t>附錄：每個數字標成已核定、推估、未知三層之一，項次 9 只寫「待核定」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50796"/>
            <a:ext cx="1072865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800" b="0">
                <a:solidFill>
                  <a:srgbClr val="9AA3B2"/>
                </a:solidFill>
                <a:latin typeface="Noto Sans CJK TC"/>
              </a:rPr>
              <a:t>本簡報共引用 20 個數值：已核定 17 個、推估 1 個、未知 2 個；空白代表本表未載明，不等於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2895" y="638251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9AA3B2"/>
                </a:solidFill>
                <a:latin typeface="Noto Sans CJK TC"/>
              </a:rPr>
              <a:t>5 /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82512"/>
            <a:ext cx="7680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AA3B2"/>
                </a:solidFill>
                <a:latin typeface="Noto Sans CJK TC"/>
              </a:rPr>
              <a:t>資料來源：113 年度校舍修繕及設備汰換專案經費表（統計基準日 113 年 12 月 31 日）</a:t>
            </a:r>
          </a:p>
        </p:txBody>
      </p:sp>
      <p:pic>
        <p:nvPicPr>
          <p:cNvPr id="7" name="Picture 6" descr="c4-fact-lay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053132"/>
            <a:ext cx="10728655" cy="288109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31520" y="4956048"/>
            <a:ext cx="10728655" cy="411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074920"/>
            <a:ext cx="10728655" cy="1271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550" b="1">
                <a:solidFill>
                  <a:srgbClr val="E8A33D"/>
                </a:solidFill>
                <a:latin typeface="Noto Sans CJK TC"/>
              </a:rPr>
              <a:t>已核定層：8 個項次的核定金額與已執行金額，均為截至基準日的實數。</a:t>
            </a:r>
          </a:p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550" b="0">
                <a:solidFill>
                  <a:srgbClr val="E6E9EF"/>
                </a:solidFill>
                <a:latin typeface="Noto Sans CJK TC"/>
              </a:rPr>
              <a:t>推估層：項次 5 校區無障礙坡道尾款 12,000 元，係依契約估驗計價金額推估，實際以驗收後結算為準。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550" b="0">
                <a:solidFill>
                  <a:srgbClr val="9AA3B2"/>
                </a:solidFill>
                <a:latin typeface="Noto Sans CJK TC"/>
              </a:rPr>
              <a:t>未知層：項次 9 會議室冷氣機為增列項目、核定金額未載明；表頭與明細的 60,000 元差額亦未載明來源。此二者只寫「待核定」，不填數字；圖上項次 9 的斜線長度僅為佔位，不代表金額。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
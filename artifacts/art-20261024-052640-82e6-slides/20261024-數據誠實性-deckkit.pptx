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開場（40 秒）</a:t>
            </a:r>
          </a:p>
          <a:p>
            <a:r>
              <a:t>- 今天這 10 分鐘不講統計理論，只講四種在處務會議上真的會被當場喊停的畫法。</a:t>
            </a:r>
          </a:p>
          <a:p>
            <a:r>
              <a:t>- 先講清楚這跟每個人有關：這四種畫法如果出自我們科，送件時會被退件退回，</a:t>
            </a:r>
          </a:p>
          <a:p>
            <a:r>
              <a:t>  來回改圖的時間成本落在承辦人身上，不會有人替你分擔。</a:t>
            </a:r>
          </a:p>
          <a:p>
            <a:r>
              <a:t>- 今天帶走一個工具：SCAM 四步自檢表，送件前自己走一次，3 分鐘。</a:t>
            </a:r>
          </a:p>
          <a:p>
            <a:r>
              <a:t>- 提醒：本簡報所有示範數據都是教學用示意資料，不要拿來引用。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這頁（1.5 分鐘）</a:t>
            </a:r>
          </a:p>
          <a:p>
            <a:r>
              <a:t>- 先問在場的人：這兩張圖數字一模一樣，差異在哪？（停頓 3 秒，讓人看左右圖）</a:t>
            </a:r>
          </a:p>
          <a:p>
            <a:r>
              <a:t>- 重點在 A 區 92% 和 D 區 98%：誠實版看起來是差不多的一段；截斷版看起來 D 區的柱子</a:t>
            </a:r>
          </a:p>
          <a:p>
            <a:r>
              <a:t>  是 A 區的四倍高，但實際只差 6 個百分點。這個倍數是照圖上的軸回算的，不是估的。</a:t>
            </a:r>
          </a:p>
          <a:p>
            <a:r>
              <a:t>- 長條圖為什麼一定要從 0？因為長度是相對量，地板沒了，比較的基準就沒了。</a:t>
            </a:r>
          </a:p>
          <a:p>
            <a:r>
              <a:t>- 折線圖可以不用從 0，因為它呈現的是斜率不是長度——但這不代表可以不標軸。</a:t>
            </a:r>
          </a:p>
          <a:p>
            <a:r>
              <a:t>- 常見情境：業務單位送來的達成率圖，92% 和 98% 差一截，我們自己出圖時千萬別踩。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這頁（1.5 分鐘）</a:t>
            </a:r>
          </a:p>
          <a:p>
            <a:r>
              <a:t>- 先問：左邊這四塊，誰看得出來差多少？（沒有人看得出來，這就是問題）</a:t>
            </a:r>
          </a:p>
          <a:p>
            <a:r>
              <a:t>- 關鍵在這四塊根本不是同一件事的組成——它們是四個各自的得分，</a:t>
            </a:r>
          </a:p>
          <a:p>
            <a:r>
              <a:t>  不是拼起來等於 100% 的比例。畫成圓餅圖等於把『92 分』說成『占 26%』，語意整個被改掉。</a:t>
            </a:r>
          </a:p>
          <a:p>
            <a:r>
              <a:t>- 右邊同一份數字改成排序長條圖，92 和 79 排開立刻就看得出來。</a:t>
            </a:r>
          </a:p>
          <a:p>
            <a:r>
              <a:t>- 圓餅圖真正的用途是組成比例（例如預算分配佔比），不是排名比較。</a:t>
            </a:r>
          </a:p>
          <a:p>
            <a:r>
              <a:t>- 常見坑：拿問卷滿意度四個面向做圓餅圖，主管會直接問『哪個最低』，講不出來。</a:t>
            </a:r>
          </a:p>
          <a:p>
            <a:r>
              <a:t>- 補充：兩個切片都小於 5% 的圓餅圖，標籤一定會打架，寧可不要用。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這頁（1.5 分鐘）</a:t>
            </a:r>
          </a:p>
          <a:p>
            <a:r>
              <a:t>- 左圖的問題：把美洲的軸從 20 拉到 50、世界的軸從 60 拉到 120，兩條線的距離完全由刻度決定。</a:t>
            </a:r>
          </a:p>
          <a:p>
            <a:r>
              <a:t>- 特別提醒：右邊誠實版美洲大約是世界總量的三分之一，這是量級差；左圖讓人以為美洲快追上了。</a:t>
            </a:r>
          </a:p>
          <a:p>
            <a:r>
              <a:t>- 會被追問：『這個關聯是統計上真的有，還是你軸刻得好看？』</a:t>
            </a:r>
          </a:p>
          <a:p>
            <a:r>
              <a:t>- 合法用法：同一單位的兩種刻度（公分/英里、攝氏/華氏），或百分比與人數（要標清楚）。</a:t>
            </a:r>
          </a:p>
          <a:p>
            <a:r>
              <a:t>- 替代方案：兩張小圖並排、或指數化（都以 2016=100 呈現成長率），比雙軸誠實。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這頁（2 分鐘）</a:t>
            </a:r>
          </a:p>
          <a:p>
            <a:r>
              <a:t>- 左圖依機關代號排：觀眾要從 03 一路掃到 22 才知道誰最大。</a:t>
            </a:r>
          </a:p>
          <a:p>
            <a:r>
              <a:t>- 右圖降冪：22 區 95.1 第一、11 區 64.8 最後，排序本身就是結論。</a:t>
            </a:r>
          </a:p>
          <a:p>
            <a:r>
              <a:t>- 補一句重要的例外：年度、流程步驟、法條條次、層級——這些順序本身有意義，排了會破壞敘事，不要排。</a:t>
            </a:r>
          </a:p>
          <a:p>
            <a:r>
              <a:t>- 順帶講去強調：12 根柱子是資訊噪音；把不重要的轉灰階，重點自然跳出來。這跟配色那頁的</a:t>
            </a:r>
          </a:p>
          <a:p>
            <a:r>
              <a:t>  60-30-10 是同一個原理。</a:t>
            </a:r>
          </a:p>
          <a:p>
            <a:r>
              <a:t>- 實務提醒：排序後要補一句『前 4 名待辦』，不然觀眾看到了卻不知道要幹嘛。</a:t>
            </a:r>
          </a:p>
          <a:p>
            <a:r>
              <a:t>  這四名是 14 區（90.2）、07 區（91.4）、09 區（92.7）、22 區（95.1）——這句一定要照圖念，念錯等於自己把重點講掉了。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這頁（2 分鐘）</a:t>
            </a:r>
          </a:p>
          <a:p>
            <a:r>
              <a:t>- 這是今天的核心交付物，四個字母依序念：Source、Chart、Axes、Message。</a:t>
            </a:r>
          </a:p>
          <a:p>
            <a:r>
              <a:t>- 自我檢表是隨簡報附的實體檔（SCAM圖表自檢表.docx／.pdf，A4 直式一頁），</a:t>
            </a:r>
          </a:p>
          <a:p>
            <a:r>
              <a:t>  不用自己重畫；印出來貼在送件欄位旁邊，打勾到四格都過再送。</a:t>
            </a:r>
          </a:p>
          <a:p>
            <a:r>
              <a:t>- S（來源）：期間、範圍、統計口徑寫了嗎？最常見的退件原因是『今年成長 30%』但沒說明是哪一年到哪一年。</a:t>
            </a:r>
          </a:p>
          <a:p>
            <a:r>
              <a:t>- C（圖型）：要對帳用表格、要趨勢用折線、要比較大小用長條圖；十二個區的滿意度圖就是</a:t>
            </a:r>
          </a:p>
          <a:p>
            <a:r>
              <a:t>  『比較大小』的現成例子，而圓餅圖那頁就是反例。</a:t>
            </a:r>
          </a:p>
          <a:p>
            <a:r>
              <a:t>- A（座標軸）：今天講最多次的一項。長條圖不從 0 起算、雙軸各自調刻度，都在这一格被擋掉。</a:t>
            </a:r>
          </a:p>
          <a:p>
            <a:r>
              <a:t>- M（訊息）：標題寫結論句，不是『各區概況』這種名詞。主管只會記住一句話，那一句要由你決定是哪句。</a:t>
            </a:r>
          </a:p>
          <a:p>
            <a:r>
              <a:t>- 承諾：之後我們科的圖表送件前，請承辦人先走一次 SCAM。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這頁（1.5 分鐘）</a:t>
            </a:r>
          </a:p>
          <a:p>
            <a:r>
              <a:t>- 收尾三個行動逐條念，不要跳。</a:t>
            </a:r>
          </a:p>
          <a:p>
            <a:r>
              <a:t>- 第 3 條是給承辦人的保護：收到他單位圖表，先看軸跟圖型，這不是挑毛病，</a:t>
            </a:r>
          </a:p>
          <a:p>
            <a:r>
              <a:t>  是把退回成本擋在送件之前，不讓承辦人被退件。</a:t>
            </a:r>
          </a:p>
          <a:p>
            <a:r>
              <a:t>- 補一句鼓勵：這些不是美術規範，是保護自己專業的最小成本。</a:t>
            </a:r>
          </a:p>
          <a:p>
            <a:r>
              <a:t>- 最後一句留給現場：『最常被回頭再問的，是差距真的有那麼大嗎——差別不在數字，在有沒有先自己回答。』</a:t>
            </a:r>
          </a:p>
          <a:p>
            <a:r>
              <a:t>- 開放提問：今天這樣的宣導形式，如果大家覺得有用，下個月可以針對『經費執行圖表』再做一次實務演練。</a:t>
            </a:r>
          </a:p>
          <a:p>
            <a:r>
              <a:t>- 謝謝。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8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051560"/>
            <a:ext cx="137160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07040" cy="1737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Noto Sans CJK TC"/>
                <a:ea typeface="Noto Sans CJK TC"/>
              </a:rPr>
              <a:t>數字不會說謊，但圖會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6FA8B8"/>
                </a:solidFill>
                <a:latin typeface="Noto Sans CJK TC"/>
                <a:ea typeface="Noto Sans CJK TC"/>
              </a:rPr>
              <a:t>主管會議上最容易被當場質疑的四種圖表畫法</a:t>
            </a:r>
          </a:p>
        </p:txBody>
      </p:sp>
      <p:pic>
        <p:nvPicPr>
          <p:cNvPr id="5" name="Picture 4" descr="p0-four-types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805" y="2788920"/>
            <a:ext cx="6843908" cy="2148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120640"/>
            <a:ext cx="1060704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E8A33D"/>
                </a:solidFill>
                <a:latin typeface="Noto Sans CJK TC"/>
                <a:ea typeface="Noto Sans CJK TC"/>
              </a:rPr>
              <a:t>這些畫法如果出自我們科，資料會被退件——退回的成本是承辦人的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7C8695"/>
                </a:solidFill>
                <a:latin typeface="Noto Sans CJK TC"/>
                <a:ea typeface="Noto Sans CJK TC"/>
              </a:rPr>
              <a:t>處務會議資料品質宣導 ｜ 10 分鐘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7C8695"/>
                </a:solidFill>
                <a:latin typeface="Noto Sans CJK TC"/>
                <a:ea typeface="Noto Sans CJK TC"/>
              </a:rPr>
              <a:t>所有示範數據均為教學用示意資料，非任何機構真實統計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kit-chrome-title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33D"/>
                </a:solidFill>
                <a:latin typeface="Noto Sans CJK TC"/>
                <a:ea typeface="Noto Sans CJK TC"/>
              </a:rPr>
              <a:t>圖表畫法 1／4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493776"/>
            <a:ext cx="11185855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6E9EF"/>
                </a:solidFill>
                <a:latin typeface="Noto Sans CJK TC"/>
                <a:ea typeface="Noto Sans CJK TC"/>
              </a:rPr>
              <a:t>長條圖的軸不從 0 起算，6 個百分點差距看起來像 4 倍</a:t>
            </a:r>
          </a:p>
        </p:txBody>
      </p:sp>
      <p:sp>
        <p:nvSpPr>
          <p:cNvPr id="4" name="deckkit-chrome-title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7C8695"/>
                </a:solidFill>
                <a:latin typeface="Noto Sans CJK TC"/>
                <a:ea typeface="Noto Sans CJK TC"/>
              </a:rPr>
              <a:t>長條圖的視覺語言是『柱高＝數量』，柱子懸空就等於尺子自己動了腳</a:t>
            </a:r>
          </a:p>
        </p:txBody>
      </p:sp>
      <p:pic>
        <p:nvPicPr>
          <p:cNvPr id="6" name="Picture 5" descr="p2-truncated-ax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533" y="2011680"/>
            <a:ext cx="8088452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8A33D"/>
                </a:solidFill>
                <a:latin typeface="Noto Sans CJK TC"/>
                <a:ea typeface="Noto Sans CJK TC"/>
              </a:rPr>
              <a:t>怎麼被質疑：『這兩條差 6 分還是差一倍？請問您的軸從哪裡起算？』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C8695"/>
                </a:solidFill>
                <a:latin typeface="Noto Sans CJK TC"/>
                <a:ea typeface="Noto Sans CJK TC"/>
              </a:rPr>
              <a:t>圖表規格：左圖 Y 軸 0→110（誠實）／右圖 Y 軸 90→100（誤導），同一組數值 92–98%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kit-chrome-title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33D"/>
                </a:solidFill>
                <a:latin typeface="Noto Sans CJK TC"/>
                <a:ea typeface="Noto Sans CJK TC"/>
              </a:rPr>
              <a:t>圖表畫法 2／4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493776"/>
            <a:ext cx="11185855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6E9EF"/>
                </a:solidFill>
                <a:latin typeface="Noto Sans CJK TC"/>
                <a:ea typeface="Noto Sans CJK TC"/>
              </a:rPr>
              <a:t>把幾個不同量體畫成圓餅圖，13 分的差距會被佔比吃掉</a:t>
            </a:r>
          </a:p>
        </p:txBody>
      </p:sp>
      <p:sp>
        <p:nvSpPr>
          <p:cNvPr id="4" name="deckkit-chrome-title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7C8695"/>
                </a:solidFill>
                <a:latin typeface="Noto Sans CJK TC"/>
                <a:ea typeface="Noto Sans CJK TC"/>
              </a:rPr>
              <a:t>圓餅圖的每塊是『占整體多少』，不是『有多少分』——92 分和 79 分不該變成 26% 和 24%</a:t>
            </a:r>
          </a:p>
        </p:txBody>
      </p:sp>
      <p:pic>
        <p:nvPicPr>
          <p:cNvPr id="6" name="Picture 5" descr="p2b-pie-mis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109" y="2011680"/>
            <a:ext cx="7263300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8A33D"/>
                </a:solidFill>
                <a:latin typeface="Noto Sans CJK TC"/>
                <a:ea typeface="Noto Sans CJK TC"/>
              </a:rPr>
              <a:t>怎麼被質疑：『這四塊看起來都差不多，你說 92 和 79 差 13 分，差在哪？』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C8695"/>
                </a:solidFill>
                <a:latin typeface="Noto Sans CJK TC"/>
                <a:ea typeface="Noto Sans CJK TC"/>
              </a:rPr>
              <a:t>做法：要比較大小就用排序長條圖；圓餅圖留給『占整體多少』的比例題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kit-chrome-title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33D"/>
                </a:solidFill>
                <a:latin typeface="Noto Sans CJK TC"/>
                <a:ea typeface="Noto Sans CJK TC"/>
              </a:rPr>
              <a:t>圖表畫法 3／4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493776"/>
            <a:ext cx="11185855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6E9EF"/>
                </a:solidFill>
                <a:latin typeface="Noto Sans CJK TC"/>
                <a:ea typeface="Noto Sans CJK TC"/>
              </a:rPr>
              <a:t>雙 Y 軸各自調刻度，能讓任何兩個無關數字看起來有關聯</a:t>
            </a:r>
          </a:p>
        </p:txBody>
      </p:sp>
      <p:sp>
        <p:nvSpPr>
          <p:cNvPr id="4" name="deckkit-chrome-title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7C8695"/>
                </a:solidFill>
                <a:latin typeface="Noto Sans CJK TC"/>
                <a:ea typeface="Noto Sans CJK TC"/>
              </a:rPr>
              <a:t>雙軸本身不是錯，錯在第二條軸可以自由拉——關於性狀是刻度造出來的</a:t>
            </a:r>
          </a:p>
        </p:txBody>
      </p:sp>
      <p:pic>
        <p:nvPicPr>
          <p:cNvPr id="6" name="Picture 5" descr="p3-dual-ax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541" y="2011680"/>
            <a:ext cx="8344437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6FA8B8"/>
                </a:solidFill>
                <a:latin typeface="Noto Sans CJK TC"/>
                <a:ea typeface="Noto Sans CJK TC"/>
              </a:rPr>
              <a:t>合法例外：兩個軸單位等價（公分／英里、攝氏／華氏）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C8695"/>
                </a:solidFill>
                <a:latin typeface="Noto Sans CJK TC"/>
                <a:ea typeface="Noto Sans CJK TC"/>
              </a:rPr>
              <a:t>做法：單位不同就分兩張圖，或把兩組資料疊在同一個軸上比較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kit-chrome-title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33D"/>
                </a:solidFill>
                <a:latin typeface="Noto Sans CJK TC"/>
                <a:ea typeface="Noto Sans CJK TC"/>
              </a:rPr>
              <a:t>圖表畫法 4／4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493776"/>
            <a:ext cx="11185855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6E9EF"/>
                </a:solidFill>
                <a:latin typeface="Noto Sans CJK TC"/>
                <a:ea typeface="Noto Sans CJK TC"/>
              </a:rPr>
              <a:t>長條圖沒排序，等於把『誰最大』的功課丟給觀眾</a:t>
            </a:r>
          </a:p>
        </p:txBody>
      </p:sp>
      <p:sp>
        <p:nvSpPr>
          <p:cNvPr id="4" name="deckkit-chrome-title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7C8695"/>
                </a:solidFill>
                <a:latin typeface="Noto Sans CJK TC"/>
                <a:ea typeface="Noto Sans CJK TC"/>
              </a:rPr>
              <a:t>排序讓比較變成一眼可見；但有語意順序的維度（年度、流程、條次）不要排</a:t>
            </a:r>
          </a:p>
        </p:txBody>
      </p:sp>
      <p:pic>
        <p:nvPicPr>
          <p:cNvPr id="6" name="Picture 5" descr="p4-unsorted-vs-so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894" y="1965960"/>
            <a:ext cx="7211731" cy="3337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486400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8A33D"/>
                </a:solidFill>
                <a:latin typeface="Noto Sans CJK TC"/>
                <a:ea typeface="Noto Sans CJK TC"/>
              </a:rPr>
              <a:t>同時示範去強調：12 根柱子只有 4 根是強調色（≥90 分），其餘 8 根轉灰階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C8695"/>
                </a:solidFill>
                <a:latin typeface="Noto Sans CJK TC"/>
                <a:ea typeface="Noto Sans CJK TC"/>
              </a:rPr>
              <a:t>圖表規格：兩圖 X 軸皆 0→100；右圖虛線標在 90（門檻線），強調色 = 14 區（90.2）、07 區（91.4）、09 區（92.7）、22 區（95.1）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kit-chrome-title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33D"/>
                </a:solidFill>
                <a:latin typeface="Noto Sans CJK TC"/>
                <a:ea typeface="Noto Sans CJK TC"/>
              </a:rPr>
              <a:t>帶走的工具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493776"/>
            <a:ext cx="11185855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6E9EF"/>
                </a:solidFill>
                <a:latin typeface="Noto Sans CJK TC"/>
                <a:ea typeface="Noto Sans CJK TC"/>
              </a:rPr>
              <a:t>SCAM 四步自檢表：送件前 3 分鐘，能擋掉大部分圖表爭議</a:t>
            </a:r>
          </a:p>
        </p:txBody>
      </p:sp>
      <p:sp>
        <p:nvSpPr>
          <p:cNvPr id="4" name="deckkit-chrome-title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7C8695"/>
                </a:solidFill>
                <a:latin typeface="Noto Sans CJK TC"/>
                <a:ea typeface="Noto Sans CJK TC"/>
              </a:rPr>
              <a:t>S 來源 → C 圖型 → A 座標軸 → M 訊息：由外而內依序檢查</a:t>
            </a:r>
          </a:p>
        </p:txBody>
      </p:sp>
      <p:pic>
        <p:nvPicPr>
          <p:cNvPr id="6" name="Picture 5" descr="p5-s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674" y="2011680"/>
            <a:ext cx="9700170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8A33D"/>
                </a:solidFill>
                <a:latin typeface="Noto Sans CJK TC"/>
                <a:ea typeface="Noto Sans CJK TC"/>
              </a:rPr>
              <a:t>A（座標軸）是最高頻的爭議點：長條圖不從 0 起算＝當場被退件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C8695"/>
                </a:solidFill>
                <a:latin typeface="Noto Sans CJK TC"/>
                <a:ea typeface="Noto Sans CJK TC"/>
              </a:rPr>
              <a:t>用法：本簡報附「SCAM圖表自檢表.docx / .pdf」（A4 可列印），送件前逐格打勾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kit-chrome-title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33D"/>
                </a:solidFill>
                <a:latin typeface="Noto Sans CJK TC"/>
                <a:ea typeface="Noto Sans CJK TC"/>
              </a:rPr>
              <a:t>收尾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493776"/>
            <a:ext cx="11185855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6E9EF"/>
                </a:solidFill>
                <a:latin typeface="Noto Sans CJK TC"/>
                <a:ea typeface="Noto Sans CJK TC"/>
              </a:rPr>
              <a:t>三個行動：從下一次做簡報開始，圖表就不再是弱點</a:t>
            </a:r>
          </a:p>
        </p:txBody>
      </p:sp>
      <p:sp>
        <p:nvSpPr>
          <p:cNvPr id="4" name="deckkit-chrome-title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7C8695"/>
                </a:solidFill>
                <a:latin typeface="Noto Sans CJK TC"/>
                <a:ea typeface="Noto Sans CJK TC"/>
              </a:rPr>
              <a:t>不要求重做所有圖，只要求從這三個習慣開始</a:t>
            </a:r>
          </a:p>
        </p:txBody>
      </p:sp>
      <p:pic>
        <p:nvPicPr>
          <p:cNvPr id="6" name="Picture 5" descr="p6-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501" y="2011680"/>
            <a:ext cx="8688516" cy="2606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4892040"/>
            <a:ext cx="1060704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</a:rPr>
              <a:t>最常被回頭再問的一句：『這個數字的差距真的有那麼大嗎？』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E8A33D"/>
                </a:solidFill>
                <a:latin typeface="Noto Sans CJK TC"/>
                <a:ea typeface="Noto Sans CJK TC"/>
              </a:rPr>
              <a:t>——差別不在數字，在我們有沒有先自己回答它。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
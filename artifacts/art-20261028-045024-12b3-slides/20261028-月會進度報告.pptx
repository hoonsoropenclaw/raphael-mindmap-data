
<file path=[Content_Types].xml><?xml version="1.0" encoding="utf-8"?>
<Types xmlns="http://schemas.openxmlformats.org/package/2006/content-types">
  <Default Extension="fntdata" ContentType="application/vnd.openxmlformats-officedocument.obfuscatedFont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Noto Sans CJK TC" pitchFamily="34" charset="0"/>
      <p:regular r:id="rId14"/>
    </p:embeddedFont>
    <p:embeddedFont>
      <p:font typeface="Noto Sans CJK TC" pitchFamily="34" charset="0"/>
      <p:bold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開場（60 秒）</a:t>
            </a:r>
          </a:p>
          <a:p>
            <a:r>
              <a:t>- 今天只有兩個決定要您做：追加需求 650 元怎麼支應，</a:t>
            </a:r>
          </a:p>
          <a:p>
            <a:r>
              <a:t>  還有法定定期檢查缺的那 1 次什麼時候補辦。</a:t>
            </a:r>
          </a:p>
          <a:p>
            <a:r>
              <a:t>- 先講現況：10 月完成 186 件，這是實績；9 月是 171 件，</a:t>
            </a:r>
          </a:p>
          <a:p>
            <a:r>
              <a:t>  兩者都是同一種基準，所以增加 15 件可以直接講。</a:t>
            </a:r>
          </a:p>
          <a:p>
            <a:r>
              <a:t>- 有一件事我要先講清楚，因為它最容易被誤讀：三種基準並列那頁，那個 200 件</a:t>
            </a:r>
          </a:p>
          <a:p>
            <a:r>
              <a:t>  是**建議值**，是我們處室依往年同期推估的參考值，不是正式核定的年度目標。</a:t>
            </a:r>
          </a:p>
          <a:p>
            <a:r>
              <a:t>  如果把它講成「目標」，數字本身就變成事實錯誤了。</a:t>
            </a:r>
          </a:p>
          <a:p>
            <a:r>
              <a:t>- 所以封面這三張卡，每一張都標了它的角色：實績、建議值、預估。</a:t>
            </a:r>
          </a:p>
          <a:p>
            <a:r>
              <a:t>- 右邊那 650 元是缺口：11 月預估追加需求</a:t>
            </a:r>
          </a:p>
          <a:p>
            <a:r>
              <a:t>  6,000 元，年度預算剩餘可支用</a:t>
            </a:r>
          </a:p>
          <a:p>
            <a:r>
              <a:t>  5,350 元，差 650 元。</a:t>
            </a:r>
          </a:p>
          <a:p>
            <a:r>
              <a:t>  注意預算 48,000 元是**上限天花板**，不是可以花掉的餘額。</a:t>
            </a:r>
          </a:p>
          <a:p>
            <a:r>
              <a:t>- 另外提醒：這份簡報附了一份月會進度自檢表，檔案就在交付物裡面，可以直接印出來用。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三種基準並列那頁，三組長條：灰色是 9 月實績、橘色是 10 月實績（本期）、藍色虛線框是 11 月建議完成量。</a:t>
            </a:r>
          </a:p>
          <a:p>
            <a:r>
              <a:t>- 虛線框是**故意**跟實心柱分開的：虛線代表那個數字還沒有被核定，</a:t>
            </a:r>
          </a:p>
          <a:p>
            <a:r>
              <a:t>  是我們自己推估的參考值。實心柱才是已經發生的事實。</a:t>
            </a:r>
          </a:p>
          <a:p>
            <a:r>
              <a:t>- 這頁我要講的唯一重點是「哪些數字可以相減」：9 月跟 10 月都是實績、同一統計基準，</a:t>
            </a:r>
          </a:p>
          <a:p>
            <a:r>
              <a:t>  所以增加 15 件可以直接講，+8.8%。</a:t>
            </a:r>
          </a:p>
          <a:p>
            <a:r>
              <a:t>- 11 月那 200 件**不能**跟實績相減然後說「差 14 件是落後」——</a:t>
            </a:r>
          </a:p>
          <a:p>
            <a:r>
              <a:t>  因為那個 200 件是建議值不是核定目標，兩個基準不同。</a:t>
            </a:r>
          </a:p>
          <a:p>
            <a:r>
              <a:t>  比較穩當的講法是：10 月對建議值的整體達成率 93.0%，尚差 14 件。</a:t>
            </a:r>
          </a:p>
          <a:p>
            <a:r>
              <a:t>- 而且這個 93.0% 是**整體**算的，沒有按業務項目分解——</a:t>
            </a:r>
          </a:p>
          <a:p>
            <a:r>
              <a:t>  它不能被解讀成「各業務項目都達到九成三」。附錄那頁，會說明這個界線。</a:t>
            </a:r>
          </a:p>
          <a:p>
            <a:r>
              <a:t>- 主管如果問「200 件是誰定的」：是我們處室依往年同期推估，11 月月會前會依預算覈實情形調整。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尚差件數那頁，左邊是尚差件數，依差距大小排。收文與公文發文 8 件最大、</a:t>
            </a:r>
          </a:p>
          <a:p>
            <a:r>
              <a:t>  採購與驗收 5 件、車輛與場地管理 1 件。</a:t>
            </a:r>
          </a:p>
          <a:p>
            <a:r>
              <a:t>- 這裡我要老實說一句：收文那 8 件**原稿沒有寫原因**，所以我不推測。</a:t>
            </a:r>
          </a:p>
          <a:p>
            <a:r>
              <a:t>  沒有原因我就在圖上標出來，不編一個理由上去。</a:t>
            </a:r>
          </a:p>
          <a:p>
            <a:r>
              <a:t>- 採購與驗收那 5 件不一樣，紅色的那條有明確原因：114-007 號辦公用品採購案</a:t>
            </a:r>
          </a:p>
          <a:p>
            <a:r>
              <a:t>  在 10 月 8 日被退回要補圖說。原稿說 10 月原估可完成 30 件、實際 27 件，</a:t>
            </a:r>
          </a:p>
          <a:p>
            <a:r>
              <a:t>  差額 3 件預計 11 月第 1 週補正。</a:t>
            </a:r>
          </a:p>
          <a:p>
            <a:r>
              <a:t>- 右邊兩種門檻那頁，是兩種性質完全不同的門檻，我要特別分開講：</a:t>
            </a:r>
          </a:p>
          <a:p>
            <a:r>
              <a:t>  上面是**法定定期檢查**，這是下限門檻，11 月應辦 3 次、10 月辦了 2 次，</a:t>
            </a:r>
          </a:p>
          <a:p>
            <a:r>
              <a:t>  尚缺 1 次——**沒辦到就是沒依規定辦理**，不會因為件數達成率高就免責。</a:t>
            </a:r>
          </a:p>
          <a:p>
            <a:r>
              <a:t>  下面是**年度預算**，這是上限天花板，4 萬 8 千元是上限不是額度，</a:t>
            </a:r>
          </a:p>
          <a:p>
            <a:r>
              <a:t>  用完就沒有了，剩 5,350 元。</a:t>
            </a:r>
          </a:p>
          <a:p>
            <a:r>
              <a:t>- 這兩個「門檻」字面很像、性質完全相反：一個是至少要達成，一個是最好不要超過。</a:t>
            </a:r>
          </a:p>
          <a:p>
            <a:r>
              <a:t>  講的時候千萬不要混。</a:t>
            </a:r>
          </a:p>
          <a:p>
            <a:r>
              <a:t>- 最後一點：其他事務我沒有放進左邊那張圖。10 月 23 件裡面有 12 件是</a:t>
            </a:r>
          </a:p>
          <a:p>
            <a:r>
              <a:t>  資產移轉補登那種做完就結案的作業，11 月的建議值 15 件已經把這個扣掉了。</a:t>
            </a:r>
          </a:p>
          <a:p>
            <a:r>
              <a:t>  基準不同，硬要相減會得到「其他事務超額 8 件」這種錯誤結論。</a:t>
            </a:r>
          </a:p>
          <a:p>
            <a:r>
              <a:t>  它的經常性口徑是 11 件對 15 件，73.3%。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左邊是已確認的風險，右邊是待確認的事項，兩者性質不同所以分開列。</a:t>
            </a:r>
          </a:p>
          <a:p>
            <a:r>
              <a:t>- 左邊三項：法定檢查缺 1 次（這是硬性違規風險，不達就出事）；</a:t>
            </a:r>
          </a:p>
          <a:p>
            <a:r>
              <a:t>  採購案退件造成的 3 件落後（外部原因，預計 11 月第 1 週補）；</a:t>
            </a:r>
          </a:p>
          <a:p>
            <a:r>
              <a:t>  預算剩餘 5,350 元但 11 月預估追加需求 6,000 元，</a:t>
            </a:r>
          </a:p>
          <a:p>
            <a:r>
              <a:t>  超出 650 元，分攤方式本表沒寫。</a:t>
            </a:r>
          </a:p>
          <a:p>
            <a:r>
              <a:t>- 這裡我要特別講**滿意度 92.4%** 這件事，因為它最容易被推論錯。</a:t>
            </a:r>
          </a:p>
          <a:p>
            <a:r>
              <a:t>- 這個 92.4% 是整體值：問卷發放 250 份、</a:t>
            </a:r>
          </a:p>
          <a:p>
            <a:r>
              <a:t>  回收 190 份，回收率 76.0%。</a:t>
            </a:r>
          </a:p>
          <a:p>
            <a:r>
              <a:t>- **但這次問卷沒有逐項調查各業務項目的滿意度。** 所以這個數字不能講成</a:t>
            </a:r>
          </a:p>
          <a:p>
            <a:r>
              <a:t>  「各業務項目都達到九成二」，也不能拿它去支持「某項業務的滿意度太低所以要砍掉」</a:t>
            </a:r>
          </a:p>
          <a:p>
            <a:r>
              <a:t>  這種推論——我們根本沒有分項資料。</a:t>
            </a:r>
          </a:p>
          <a:p>
            <a:r>
              <a:t>- 主管如果問「那哪一項最差」：正確答案是**沒有這項資料**，不能從整體值倒推。</a:t>
            </a:r>
          </a:p>
          <a:p>
            <a:r>
              <a:t>  這不是我不願意講，是原稿就沒有。</a:t>
            </a:r>
          </a:p>
          <a:p>
            <a:r>
              <a:t>- 右邊三項待確認都附了主責單位與期限，都是 總務處。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 分鐘，收尾）</a:t>
            </a:r>
          </a:p>
          <a:p>
            <a:r>
              <a:t>- 兩件事要您決定：第 1，追加需求 650 元的支應方式</a:t>
            </a:r>
          </a:p>
          <a:p>
            <a:r>
              <a:t>  （覈實後續用或另行籌措）；第 2，核准法定定期檢查的補辦時程。</a:t>
            </a:r>
          </a:p>
          <a:p>
            <a:r>
              <a:t>- 11 月預估追加需求 6,000 元（預估）－年度預算剩餘可支用 5,350（預算上限 48,000 － 已支用 42,650）。這裡我要說明那個 48,000 元是**上限**，</a:t>
            </a:r>
          </a:p>
          <a:p>
            <a:r>
              <a:t>  不是可以動用的餘額；已支用 42,650 元後真正剩餘的是</a:t>
            </a:r>
          </a:p>
          <a:p>
            <a:r>
              <a:t>  5,350 元。</a:t>
            </a:r>
          </a:p>
          <a:p>
            <a:r>
              <a:t>- 支應方式寫成兩種：覈實後續用、或另行籌措。本表沒有寫分攤方式，我不替他寫。</a:t>
            </a:r>
          </a:p>
          <a:p>
            <a:r>
              <a:t>- 補辦時程：法定檢查 11 月應辦 3 次，</a:t>
            </a:r>
          </a:p>
          <a:p>
            <a:r>
              <a:t>  目前辦了 2 次，請核准 11 月 15 日前提出補辦時程。</a:t>
            </a:r>
          </a:p>
          <a:p>
            <a:r>
              <a:t>- 決定句後面我要補一句條件式：**核准後續辦的條件**是分攤方式釐清、</a:t>
            </a:r>
          </a:p>
          <a:p>
            <a:r>
              <a:t>  估驗計價金額確認後，才好據以辦理追加與撥付。</a:t>
            </a:r>
          </a:p>
          <a:p>
            <a:r>
              <a:t>  不是「核准就一定照這樣辦」——金額基準還沒定，辦法不能先講死。</a:t>
            </a:r>
          </a:p>
          <a:p>
            <a:r>
              <a:t>- 右邊三個盒子：上面是本簡報所附的自檢表（檔案真的在交付物裡面，可直接列印）；</a:t>
            </a:r>
          </a:p>
          <a:p>
            <a:r>
              <a:t>  中間是這份簡報本身的資料交代；下面是這份簡報的性質——</a:t>
            </a:r>
          </a:p>
          <a:p>
            <a:r>
              <a:t>  **它是示範素材，數字是虛構的**，這點我一定要自己講，不可以等別人發現。</a:t>
            </a:r>
          </a:p>
          <a:p>
            <a:r>
              <a:t>- 最後一句：待確認三項都在 11 月月會前補齊，處理方式今天就可以決定。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分鐘，主管追問時才講）</a:t>
            </a:r>
          </a:p>
          <a:p>
            <a:r>
              <a:t>- 附錄那頁，這是附錄，把每個數字的角色攤開。主管若不追問，這頁可以跳過。</a:t>
            </a:r>
          </a:p>
          <a:p>
            <a:r>
              <a:t>- 四種角色：實績（已發生，可直接引用）、建議值（參考用，非核定目標）、</a:t>
            </a:r>
          </a:p>
          <a:p>
            <a:r>
              <a:t>  預估（尚未核定，須標明依據）、未知（本表未載明，不填數字）。</a:t>
            </a:r>
          </a:p>
          <a:p>
            <a:r>
              <a:t>- 數量上：實績 23 個、</a:t>
            </a:r>
          </a:p>
          <a:p>
            <a:r>
              <a:t>  建議值 7 個、</a:t>
            </a:r>
          </a:p>
          <a:p>
            <a:r>
              <a:t>  預估 1 個、</a:t>
            </a:r>
          </a:p>
          <a:p>
            <a:r>
              <a:t>  未知 1 個。</a:t>
            </a:r>
          </a:p>
          <a:p>
            <a:r>
              <a:t>- 未知層只有一個：校舍修繕第 2 期的估驗計價金額，本表沒寫金額，我這份簡報也**不填數字**。</a:t>
            </a:r>
          </a:p>
          <a:p>
            <a:r>
              <a:t>  空白不等於 0——0 是量到了 0，空白是還不知道，兩件事的處理方式不同。</a:t>
            </a:r>
          </a:p>
          <a:p>
            <a:r>
              <a:t>- 另外提醒一個界線：滿意度 92.4% 與整體達成率</a:t>
            </a:r>
          </a:p>
          <a:p>
            <a:r>
              <a:t>  93.0% 都是**整體值**，沒有分項資料，</a:t>
            </a:r>
          </a:p>
          <a:p>
            <a:r>
              <a:t>  所以不能被推論到各業務項目。這兩頁我都不會拿它們去支持任何分項結論。</a:t>
            </a:r>
          </a:p>
          <a:p>
            <a:r>
              <a:t>- 最後是交付清單：右邊列的檔案全部真的隨簡報交付了，</a:t>
            </a:r>
          </a:p>
          <a:p>
            <a:r>
              <a:t>  包括那份月會進度自檢表，docx 跟 pdf 都有，可以直接印。</a:t>
            </a:r>
          </a:p>
          <a:p>
            <a:r>
              <a:t>- 最後再講一遍：這份簡報是示範素材，數字是虛構的。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86384"/>
            <a:ext cx="146304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50976"/>
            <a:ext cx="10728655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200" b="1">
                <a:solidFill>
                  <a:srgbClr val="E6E9EF"/>
                </a:solidFill>
                <a:latin typeface="Noto Sans CJK TC"/>
              </a:rPr>
              <a:t>10 月完成 186 件，較上月增加 15 件；11 月尚有 2 項須決定事項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E8A33D"/>
                </a:solidFill>
                <a:latin typeface="Noto Sans CJK TC"/>
              </a:rPr>
              <a:t>請決定：追加需求 650 元之支應方式，並核准法定檢查補辦時程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1022"/>
            <a:ext cx="1072865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800" b="0">
                <a:solidFill>
                  <a:srgbClr val="6FA8B8"/>
                </a:solidFill>
                <a:latin typeface="Noto Sans CJK TC"/>
              </a:rPr>
              <a:t>統計基準日 113 年 10 月 31 日｜主辦單位 總務處｜用途：113 年 11 月行政月會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本簡報所列「11 月建議完成量 200 件」為建議值，非正式核定之年度目標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3401568" cy="18836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096512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Noto Sans CJK TC"/>
              </a:rPr>
              <a:t>186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590288"/>
            <a:ext cx="28895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10 月完成（實績）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9AA3B2"/>
                </a:solidFill>
                <a:latin typeface="Noto Sans CJK TC"/>
              </a:rPr>
              <a:t>較 9 月實績 171 件增加 15 件（+8.8%）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931920"/>
            <a:ext cx="3401568" cy="18836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3931920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096512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Noto Sans CJK TC"/>
              </a:rPr>
              <a:t>200 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590288"/>
            <a:ext cx="28895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11 月建議完成量（建議值）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9AA3B2"/>
                </a:solidFill>
                <a:latin typeface="Noto Sans CJK TC"/>
              </a:rPr>
              <a:t>處室依往年同期推估之參考值，非正式核定目標；對此值之達成率 93.0%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3931920"/>
            <a:ext cx="3401568" cy="18836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3931920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4096512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A33D"/>
                </a:solidFill>
                <a:latin typeface="Noto Sans CJK TC"/>
              </a:rPr>
              <a:t>650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590288"/>
            <a:ext cx="28895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追加需求超出剩餘可支用（預估）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9AA3B2"/>
                </a:solidFill>
                <a:latin typeface="Noto Sans CJK TC"/>
              </a:rPr>
              <a:t>預算 48,000 元為上限天花板，剩餘可支用 5,350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88736"/>
            <a:ext cx="107286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本簡報另載 3 項待確認事項（主責：總務處）；另附月會進度自檢表，供月會前逐項自我檢核。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9AA3B2"/>
                </a:solidFill>
                <a:latin typeface="Noto Sans CJK TC"/>
              </a:rPr>
              <a:t>數字均取自月報原稿；比率依原稿分母回算；「11 月建議完成量」為建議值非核定目標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10 月完成 186 件（實績），較 9 月增加 15 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三種基準分開呈現：9 月與 10 月為實績可相減；11 月 200 件為建議值，不可視為核定目標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年度校園行政業務月會進度報告（統計基準日 113 年 10 月 31 日）｜示範素材</a:t>
            </a:r>
          </a:p>
        </p:txBody>
      </p:sp>
      <p:pic>
        <p:nvPicPr>
          <p:cNvPr id="7" name="Picture 6" descr="c1-progress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728655" cy="2390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498848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50" b="1">
                <a:solidFill>
                  <a:srgbClr val="E8A33D"/>
                </a:solidFill>
                <a:latin typeface="Noto Sans CJK TC"/>
              </a:rPr>
              <a:t>只有 9 月與 10 月這組可以相減：171 件 → 186 件，增加 15 件（+8.8%），兩者同為實績、同一統計基準。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50" b="0">
                <a:solidFill>
                  <a:srgbClr val="E6E9EF"/>
                </a:solidFill>
                <a:latin typeface="Noto Sans CJK TC"/>
              </a:rPr>
              <a:t>11 月 200 件是建議值（處室依往年同期推估，非正式核定之年度目標）；10 月對此建議值之整體達成率 93.0%，尚差 14 件。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50" b="0">
                <a:solidFill>
                  <a:srgbClr val="9AA3B2"/>
                </a:solidFill>
                <a:latin typeface="Noto Sans CJK TC"/>
              </a:rPr>
              <a:t>本簡報一律不把建議值寫成「目標」或「核定值」；兩者性質不同，不可互換。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收文與公文發文尚差 8 件，採購與驗收 5 件屬外部退件所致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尚差件數係相對於 11 月建議完成量；其他事務因基準不同不納入本圖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年度校園行政業務月會進度報告（統計基準日 113 年 10 月 31 日）｜示範素材</a:t>
            </a:r>
          </a:p>
        </p:txBody>
      </p:sp>
      <p:pic>
        <p:nvPicPr>
          <p:cNvPr id="7" name="Picture 6" descr="c2-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1408"/>
            <a:ext cx="5175504" cy="2469798"/>
          </a:xfrm>
          <a:prstGeom prst="rect">
            <a:avLst/>
          </a:prstGeom>
        </p:spPr>
      </p:pic>
      <p:pic>
        <p:nvPicPr>
          <p:cNvPr id="8" name="Picture 7" descr="c3-floor-and-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121408"/>
            <a:ext cx="5175504" cy="25057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864608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8655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50" b="1">
                <a:solidFill>
                  <a:srgbClr val="E8A33D"/>
                </a:solidFill>
                <a:latin typeface="Noto Sans CJK TC"/>
              </a:rPr>
              <a:t>收文與公文發文尚差 8 件為差距最大者，但原稿未載明原因，本簡報不推測其成因。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50" b="0">
                <a:solidFill>
                  <a:srgbClr val="E6E9EF"/>
                </a:solidFill>
                <a:latin typeface="Noto Sans CJK TC"/>
              </a:rPr>
              <a:t>採購與驗收尚差 5 件有明確外部原因：114-007 號採購案於 10 月 8 日退回補充圖說，差額 3 件預計 11 月第 1 週補正；其他事務 10 月 23 件含資產移轉補登作業 12 件，與 11 月建議值基準不同，不可直接相減。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0">
                <a:solidFill>
                  <a:srgbClr val="E6E9EF"/>
                </a:solidFill>
                <a:latin typeface="Noto Sans CJK TC"/>
              </a:rPr>
              <a:t>右圖兩種門檻性質相反：法定定期檢查是下限門檻（尚缺 1 次）；年度預算是上限天花板（剩餘 5,350 元）。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整體滿意度 92.4%，但本次問卷未逐項調查各業務項目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已確認風險與待確認事項分列；滿意度為整體值，不可外推至子項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年度校園行政業務月會進度報告（統計基準日 113 年 10 月 31 日）｜示範素材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175504" cy="384048"/>
          </a:xfrm>
          <a:prstGeom prst="rect">
            <a:avLst/>
          </a:prstGeom>
          <a:solidFill>
            <a:srgbClr val="23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45720" cy="384048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76272"/>
            <a:ext cx="4809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07A6C"/>
                </a:solidFill>
                <a:latin typeface="Noto Sans CJK TC"/>
              </a:rPr>
              <a:t>已確認風險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96896"/>
            <a:ext cx="5175504" cy="87782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96896"/>
            <a:ext cx="45720" cy="877824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70048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法定定期檢查尚缺 1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44368"/>
            <a:ext cx="4791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11 月應辦 3 次，10 月完成 2 次。屬法定必辦之下限門檻，未達即未依規定辦理。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47872"/>
            <a:ext cx="5175504" cy="87782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47872"/>
            <a:ext cx="45720" cy="877824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621024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採購與驗收落後 3 件（外部原因）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895344"/>
            <a:ext cx="4791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114-007 號採購案於 10 月 8 日退回補充圖說，差額預計 11 月第 1 週補正。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98848"/>
            <a:ext cx="5175504" cy="87782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98848"/>
            <a:ext cx="45720" cy="877824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572000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預算剩餘可支用 5,350 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846320"/>
            <a:ext cx="4791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11 月預估追加需求 6,000 元，超出剩餘 650；分攤方式本表未載明。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2103120"/>
            <a:ext cx="5175504" cy="384048"/>
          </a:xfrm>
          <a:prstGeom prst="rect">
            <a:avLst/>
          </a:prstGeom>
          <a:solidFill>
            <a:srgbClr val="23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103120"/>
            <a:ext cx="45720" cy="384048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176272"/>
            <a:ext cx="4809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FA8B8"/>
                </a:solidFill>
                <a:latin typeface="Noto Sans CJK TC"/>
              </a:rPr>
              <a:t>待確認事項（本表未載明）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2596896"/>
            <a:ext cx="5175504" cy="87782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2596896"/>
            <a:ext cx="45720" cy="877824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670048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追加需求之分攤方式未載明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44368"/>
            <a:ext cx="4791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預估追加需求 6,000 元超出剩餘可支用 5,350，差額 650；本表未載明分攤方式。主責：總務處｜期限：11 月月會前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3547872"/>
            <a:ext cx="5175504" cy="87782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3547872"/>
            <a:ext cx="45720" cy="877824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621024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法定檢查尚缺 1 次之補辦時程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95344"/>
            <a:ext cx="4791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11 月應辦 3 次、10 月完成 2 次，屬法定必辦之下限門檻，未達即未依規定辦理。主責：總務處｜期限：11 月 15 日前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4498848"/>
            <a:ext cx="5175504" cy="87782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3056" y="4498848"/>
            <a:ext cx="45720" cy="877824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572000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估驗計價金額未核定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846320"/>
            <a:ext cx="4791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俟驗收後結算，本表未載明金額，本簡報不填數字。主責：總務處｜期限：11 月 20 日前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94960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13832"/>
            <a:ext cx="1072865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Noto Sans CJK TC"/>
              </a:rPr>
              <a:t>滿意度 92.4% 為問卷整體值（發放 250 份、回收 190 份，回收率 76.0%）；本次未逐項調查各業務項目滿意度，不代表各業務項目之個別滿意度。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9AA3B2"/>
                </a:solidFill>
                <a:latin typeface="Noto Sans CJK TC"/>
              </a:rPr>
              <a:t>本簡報不從整體值推論任何分項結論；各業務項目之滿意度未經調查即無資料。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請決定追加需求之支應方式，並核准法定檢查之補辦時程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兩項請示事項；核准後續辦仍以待確認事項釐清為前提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年度校園行政業務月會進度報告（統計基準日 113 年 10 月 31 日）｜示範素材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A33D"/>
                </a:solidFill>
                <a:latin typeface="Noto Sans CJK TC"/>
              </a:rPr>
              <a:t>請示事項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22576"/>
            <a:ext cx="6309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22576"/>
            <a:ext cx="45720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14016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追加需求缺口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04872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650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52344"/>
            <a:ext cx="39776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AA3B2"/>
                </a:solidFill>
                <a:latin typeface="Noto Sans CJK TC"/>
              </a:rPr>
              <a:t>11 月預估追加需求 6,000 元（預估）－年度預算剩餘可支用 5,350（預算上限 48,000 － 已支用 42,650）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6309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45720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74720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支應方式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65576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覈實後續用 或 另行籌措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13048"/>
            <a:ext cx="39776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AA3B2"/>
                </a:solidFill>
                <a:latin typeface="Noto Sans CJK TC"/>
              </a:rPr>
              <a:t>追加需求之支應方式本表未載明分攤方式，待月會決議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43984"/>
            <a:ext cx="6309360" cy="969264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43984"/>
            <a:ext cx="45720" cy="9692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35424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補辦時程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526280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11 月 15 日前提出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73752"/>
            <a:ext cx="39776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9AA3B2"/>
                </a:solidFill>
                <a:latin typeface="Noto Sans CJK TC"/>
              </a:rPr>
              <a:t>法定定期檢查尚缺 1 次，11 月應辦 3 次；主責：總務處｜期限：11 月 15 日前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90195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FA8B8"/>
                </a:solidFill>
                <a:latin typeface="Noto Sans CJK TC"/>
              </a:rPr>
              <a:t>本簡報所附交付物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22576"/>
            <a:ext cx="4023360" cy="1042415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322576"/>
            <a:ext cx="45720" cy="1042415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39572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E6E9EF"/>
                </a:solidFill>
                <a:latin typeface="Noto Sans CJK TC"/>
              </a:rPr>
              <a:t>月會進度自檢表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706624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9AA3B2"/>
                </a:solidFill>
                <a:latin typeface="Noto Sans CJK TC"/>
              </a:rPr>
              <a:t>A4 可列印、3 欄之月會進度自檢表；共 3 欄，A4 版面可直接列印；檔案已隨本簡報交付（月會進度自檢表.docx、月會進度自檢表.pdf）。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456432"/>
            <a:ext cx="4023360" cy="1042415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3456432"/>
            <a:ext cx="45720" cy="1042415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3511296"/>
            <a:ext cx="36576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>
                <a:solidFill>
                  <a:srgbClr val="E6E9EF"/>
                </a:solidFill>
                <a:latin typeface="Noto Sans CJK TC"/>
              </a:rPr>
              <a:t>本簡報共 6 頁，附逐頁 PDF 與 PNG 預覽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023360"/>
            <a:ext cx="3657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9AA3B2"/>
                </a:solidFill>
                <a:latin typeface="Noto Sans CJK TC"/>
              </a:rPr>
              <a:t>所有數字均可回溯至月報原稿，比率依原稿分母回算；「11 月建議完成量」為建議值，非正式核定目標。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590288"/>
            <a:ext cx="4023360" cy="1042415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4590288"/>
            <a:ext cx="45720" cy="1042415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466344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D07A6C"/>
                </a:solidFill>
                <a:latin typeface="Noto Sans CJK TC"/>
              </a:rPr>
              <a:t>本簡報為示範素材，非實際機關資料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974336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9AA3B2"/>
                </a:solidFill>
                <a:latin typeface="Noto Sans CJK TC"/>
              </a:rPr>
              <a:t>素材係自主學習練習自擬，數字均為虛構，僅用於驗證簡報製作方法；不可對外引用。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394960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513832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E8A33D"/>
                </a:solidFill>
                <a:latin typeface="Noto Sans CJK TC"/>
              </a:rPr>
              <a:t>決定句：請決定追加需求 650 元之支應方式，並核准法定定期檢查之補辦時程。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核准後續辦條件式說明：經追加需求分攤方式釐清、估驗計價金額確認後，始得據以辦理追加與撥付。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附錄：每個數字標明基準角色，附件本體隨本簡報交付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本簡報引用 32 個數值：實績 23 個、建議值 7 個、預估 1 個、未知 1 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年度校園行政業務月會進度報告（統計基準日 113 年 10 月 31 日）｜示範素材</a:t>
            </a:r>
          </a:p>
        </p:txBody>
      </p:sp>
      <p:pic>
        <p:nvPicPr>
          <p:cNvPr id="7" name="Picture 6" descr="c4-baseline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8256"/>
            <a:ext cx="10058400" cy="2069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2611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6FA8B8"/>
                </a:solidFill>
                <a:latin typeface="Noto Sans CJK TC"/>
              </a:rPr>
              <a:t>交付清單（檔案隨本簡報交付）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53712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6E9EF"/>
                </a:solidFill>
                <a:latin typeface="Noto Sans CJK TC"/>
              </a:rPr>
              <a:t>20261028-月會進度報告.pptx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553712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本簡報（6 頁，含講者備註）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553712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6E9EF"/>
                </a:solidFill>
                <a:latin typeface="Noto Sans CJK TC"/>
              </a:rPr>
              <a:t>20261028-月會進度報告.pdf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553712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PDF 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6E9EF"/>
                </a:solidFill>
                <a:latin typeface="Noto Sans CJK TC"/>
              </a:rPr>
              <a:t>page-1.png … page-6.png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864608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逐頁渲染預覽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864608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6E9EF"/>
                </a:solidFill>
                <a:latin typeface="Noto Sans CJK TC"/>
              </a:rPr>
              <a:t>月會進度自檢表.docx / 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864608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A4 可列印、3 欄之月會進度自檢表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75504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6E9EF"/>
                </a:solidFill>
                <a:latin typeface="Noto Sans CJK TC"/>
              </a:rPr>
              <a:t>manifest.json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17550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交付清單與檔案雜湊值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75504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6E9EF"/>
                </a:solidFill>
                <a:latin typeface="Noto Sans CJK TC"/>
              </a:rPr>
              <a:t>RUNLOG.md / build.sh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17550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驗證紀錄與一鍵重現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31536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300" b="0">
                <a:solidFill>
                  <a:srgbClr val="E6E9EF"/>
                </a:solidFill>
                <a:latin typeface="Noto Sans CJK TC"/>
              </a:rPr>
              <a:t>口徑與基準說明：比率之分子分母均取自月報原稿，「11 月建議完成量」為建議值非核定目標；門檻與天花板性質不同，不互換。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校舍修繕第 2 期估驗計價金額尚未核定，本簡報不填數字；附件本體已隨本簡報交付，可直接列印使用；本簡報為示範素材，數字均為虛構，不可對外引用。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